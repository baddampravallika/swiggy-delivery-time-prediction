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7" r:id="rId3"/>
    <p:sldId id="258" r:id="rId5"/>
    <p:sldId id="304" r:id="rId6"/>
    <p:sldId id="322" r:id="rId7"/>
    <p:sldId id="314" r:id="rId8"/>
    <p:sldId id="312" r:id="rId9"/>
    <p:sldId id="313" r:id="rId10"/>
    <p:sldId id="315" r:id="rId11"/>
    <p:sldId id="280" r:id="rId12"/>
    <p:sldId id="316" r:id="rId13"/>
    <p:sldId id="311" r:id="rId14"/>
    <p:sldId id="317" r:id="rId15"/>
    <p:sldId id="318" r:id="rId16"/>
    <p:sldId id="310" r:id="rId17"/>
    <p:sldId id="323" r:id="rId18"/>
    <p:sldId id="320" r:id="rId19"/>
    <p:sldId id="321" r:id="rId20"/>
    <p:sldId id="302" r:id="rId21"/>
    <p:sldId id="271" r:id="rId22"/>
    <p:sldId id="272" r:id="rId23"/>
  </p:sldIdLst>
  <p:sldSz cx="12192000" cy="6858000" type="screen16x9"/>
  <p:notesSz cx="6858000" cy="9144000"/>
  <p:embeddedFontLst>
    <p:embeddedFont>
      <p:font typeface="Calibri" panose="020F0502020204030204"/>
      <p:regular r:id="rId27"/>
      <p:bold r:id="rId28"/>
      <p:italic r:id="rId29"/>
      <p:boldItalic r:id="rId30"/>
    </p:embeddedFont>
    <p:embeddedFont>
      <p:font typeface="Calibri" panose="020F0502020204030204" charset="0"/>
      <p:regular r:id="rId31"/>
      <p:bold r:id="rId32"/>
      <p:italic r:id="rId33"/>
      <p:boldItalic r:id="rId34"/>
    </p:embeddedFont>
    <p:embeddedFont>
      <p:font typeface="Lato Black" panose="020F0802020204030203"/>
      <p:bold r:id="rId35"/>
      <p:boldItalic r:id="rId36"/>
    </p:embeddedFont>
    <p:embeddedFont>
      <p:font typeface="Microsoft YaHei" panose="020B0503020204020204" charset="-122"/>
      <p:regular r:id="rId37"/>
      <p:bold r:id="rId38"/>
    </p:embeddedFont>
    <p:embeddedFont>
      <p:font typeface="Libre Baskerville"/>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p:cViewPr varScale="1">
        <p:scale>
          <a:sx n="116" d="100"/>
          <a:sy n="116" d="100"/>
        </p:scale>
        <p:origin x="144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font" Target="fonts/font13.fntdata"/><Relationship Id="rId38" Type="http://schemas.openxmlformats.org/officeDocument/2006/relationships/font" Target="fonts/font12.fntdata"/><Relationship Id="rId37" Type="http://schemas.openxmlformats.org/officeDocument/2006/relationships/font" Target="fonts/font11.fntdata"/><Relationship Id="rId36" Type="http://schemas.openxmlformats.org/officeDocument/2006/relationships/font" Target="fonts/font10.fntdata"/><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65" name="Shape 2"/>
        <p:cNvGrpSpPr/>
        <p:nvPr/>
      </p:nvGrpSpPr>
      <p:grpSpPr>
        <a:xfrm>
          <a:off x="0" y="0"/>
          <a:ext cx="0" cy="0"/>
          <a:chOff x="0" y="0"/>
          <a:chExt cx="0" cy="0"/>
        </a:xfrm>
      </p:grpSpPr>
      <p:sp>
        <p:nvSpPr>
          <p:cNvPr id="1048699"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00"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01"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02"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03"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04"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 name="Shape 94"/>
        <p:cNvGrpSpPr/>
        <p:nvPr/>
      </p:nvGrpSpPr>
      <p:grpSpPr>
        <a:xfrm>
          <a:off x="0" y="0"/>
          <a:ext cx="0" cy="0"/>
          <a:chOff x="0" y="0"/>
          <a:chExt cx="0" cy="0"/>
        </a:xfrm>
      </p:grpSpPr>
      <p:sp>
        <p:nvSpPr>
          <p:cNvPr id="1048588" name="Google Shape;95;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p>
            <a:pPr marL="0" lvl="0" indent="0" algn="l" rtl="0">
              <a:lnSpc>
                <a:spcPct val="100000"/>
              </a:lnSpc>
              <a:spcBef>
                <a:spcPts val="0"/>
              </a:spcBef>
              <a:spcAft>
                <a:spcPts val="0"/>
              </a:spcAft>
              <a:buClr>
                <a:schemeClr val="dk1"/>
              </a:buClr>
              <a:buSzPts val="1400"/>
              <a:buFont typeface="Calibri" panose="020F0502020204030204"/>
              <a:buNone/>
            </a:pPr>
          </a:p>
        </p:txBody>
      </p:sp>
      <p:sp>
        <p:nvSpPr>
          <p:cNvPr id="1048589" name="Google Shape;9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 name="Shape 100"/>
        <p:cNvGrpSpPr/>
        <p:nvPr/>
      </p:nvGrpSpPr>
      <p:grpSpPr>
        <a:xfrm>
          <a:off x="0" y="0"/>
          <a:ext cx="0" cy="0"/>
          <a:chOff x="0" y="0"/>
          <a:chExt cx="0" cy="0"/>
        </a:xfrm>
      </p:grpSpPr>
      <p:sp>
        <p:nvSpPr>
          <p:cNvPr id="1048596" name="Google Shape;101;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p>
            <a:pPr marL="0" lvl="0" indent="0" algn="l" rtl="0">
              <a:lnSpc>
                <a:spcPct val="100000"/>
              </a:lnSpc>
              <a:spcBef>
                <a:spcPts val="0"/>
              </a:spcBef>
              <a:spcAft>
                <a:spcPts val="0"/>
              </a:spcAft>
              <a:buSzPts val="1400"/>
              <a:buNone/>
            </a:pPr>
          </a:p>
        </p:txBody>
      </p:sp>
      <p:sp>
        <p:nvSpPr>
          <p:cNvPr id="1048597" name="Google Shape;102;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3"/>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3"/>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112"/>
        <p:cNvGrpSpPr/>
        <p:nvPr/>
      </p:nvGrpSpPr>
      <p:grpSpPr>
        <a:xfrm>
          <a:off x="0" y="0"/>
          <a:ext cx="0" cy="0"/>
          <a:chOff x="0" y="0"/>
          <a:chExt cx="0" cy="0"/>
        </a:xfrm>
      </p:grpSpPr>
      <p:sp>
        <p:nvSpPr>
          <p:cNvPr id="1048647" name="Google Shape;113;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p>
            <a:pPr marL="0" lvl="0" indent="0" algn="l" rtl="0">
              <a:lnSpc>
                <a:spcPct val="100000"/>
              </a:lnSpc>
              <a:spcBef>
                <a:spcPts val="0"/>
              </a:spcBef>
              <a:spcAft>
                <a:spcPts val="0"/>
              </a:spcAft>
              <a:buClr>
                <a:schemeClr val="dk1"/>
              </a:buClr>
              <a:buSzPts val="1200"/>
              <a:buFont typeface="Calibri" panose="020F0502020204030204"/>
              <a:buNone/>
            </a:pPr>
          </a:p>
        </p:txBody>
      </p:sp>
      <p:sp>
        <p:nvSpPr>
          <p:cNvPr id="1048648" name="Google Shape;114;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p:txBody>
      </p:sp>
      <p:sp>
        <p:nvSpPr>
          <p:cNvPr id="8" name="Footer Placeholder 7"/>
          <p:cNvSpPr>
            <a:spLocks noGrp="1"/>
          </p:cNvSpPr>
          <p:nvPr>
            <p:ph type="ftr" sz="quarter" idx="11"/>
          </p:nvPr>
        </p:nvSpPr>
        <p:spPr/>
        <p:txBody>
          <a:bodyPr/>
          <a:lstStyle/>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p:txBody>
      </p:sp>
      <p:sp>
        <p:nvSpPr>
          <p:cNvPr id="4" name="Footer Placeholder 3"/>
          <p:cNvSpPr>
            <a:spLocks noGrp="1"/>
          </p:cNvSpPr>
          <p:nvPr>
            <p:ph type="ftr" sz="quarter" idx="11"/>
          </p:nvPr>
        </p:nvSpPr>
        <p:spPr/>
        <p:txBody>
          <a:bodyPr/>
          <a:lstStyle/>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p:txBody>
      </p:sp>
      <p:sp>
        <p:nvSpPr>
          <p:cNvPr id="3" name="Footer Placeholder 2"/>
          <p:cNvSpPr>
            <a:spLocks noGrp="1"/>
          </p:cNvSpPr>
          <p:nvPr>
            <p:ph type="ftr" sz="quarter" idx="11"/>
          </p:nvPr>
        </p:nvSpPr>
        <p:spPr/>
        <p:txBody>
          <a:bodyPr/>
          <a:lstStyle/>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iming>
    <p:tnLst>
      <p:par>
        <p:cTn id="1" dur="indefinite" restart="never" nodeType="tmRoot"/>
      </p:par>
    </p:tnLst>
  </p:timing>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pPr marL="0" lvl="0" indent="0" algn="r" rtl="0">
              <a:spcBef>
                <a:spcPts val="0"/>
              </a:spcBef>
              <a:spcAft>
                <a:spcPts val="0"/>
              </a:spcAft>
              <a:buNone/>
            </a:pPr>
            <a:fld id="{00000000-1234-1234-1234-123412341234}" type="slidenum">
              <a:rPr lang="en-IN"/>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Shape 97"/>
        <p:cNvGrpSpPr/>
        <p:nvPr/>
      </p:nvGrpSpPr>
      <p:grpSpPr>
        <a:xfrm>
          <a:off x="0" y="0"/>
          <a:ext cx="0" cy="0"/>
          <a:chOff x="0" y="0"/>
          <a:chExt cx="0" cy="0"/>
        </a:xfrm>
      </p:grpSpPr>
      <p:pic>
        <p:nvPicPr>
          <p:cNvPr id="2097153" name="Google Shape;98;p1"/>
          <p:cNvPicPr preferRelativeResize="0"/>
          <p:nvPr/>
        </p:nvPicPr>
        <p:blipFill rotWithShape="1">
          <a:blip r:embed="rId1"/>
          <a:srcRect/>
          <a:stretch>
            <a:fillRect/>
          </a:stretch>
        </p:blipFill>
        <p:spPr>
          <a:xfrm>
            <a:off x="-376555" y="-163195"/>
            <a:ext cx="12568555" cy="7061200"/>
          </a:xfrm>
          <a:prstGeom prst="rect">
            <a:avLst/>
          </a:prstGeom>
          <a:noFill/>
          <a:ln>
            <a:noFill/>
          </a:ln>
        </p:spPr>
      </p:pic>
      <p:sp>
        <p:nvSpPr>
          <p:cNvPr id="1048585" name="Google Shape;99;p1"/>
          <p:cNvSpPr txBox="1"/>
          <p:nvPr/>
        </p:nvSpPr>
        <p:spPr>
          <a:xfrm>
            <a:off x="1684020" y="3616960"/>
            <a:ext cx="7839710" cy="916940"/>
          </a:xfrm>
          <a:prstGeom prst="rect">
            <a:avLst/>
          </a:prstGeom>
          <a:noFill/>
          <a:ln>
            <a:noFill/>
          </a:ln>
        </p:spPr>
        <p:txBody>
          <a:bodyPr spcFirstLastPara="1" wrap="square" lIns="91425" tIns="45700" rIns="91425" bIns="45700" anchor="t" anchorCtr="0">
            <a:noAutofit/>
          </a:bodyPr>
          <a:p>
            <a:pPr marL="0" marR="0" lvl="0" indent="0" algn="ctr" rtl="0">
              <a:lnSpc>
                <a:spcPct val="100000"/>
              </a:lnSpc>
              <a:spcBef>
                <a:spcPts val="0"/>
              </a:spcBef>
              <a:spcAft>
                <a:spcPts val="0"/>
              </a:spcAft>
              <a:buClr>
                <a:srgbClr val="000000"/>
              </a:buClr>
              <a:buSzPts val="1800"/>
              <a:buFont typeface="Arial" panose="020B0604020202020204"/>
              <a:buNone/>
            </a:pPr>
            <a:r>
              <a:rPr lang="en-US" altLang="en-US" sz="4000" b="1" i="0" u="none" strike="noStrike" cap="none">
                <a:solidFill>
                  <a:schemeClr val="tx1"/>
                </a:solidFill>
                <a:latin typeface="Arial" panose="020B0604020202020204"/>
                <a:ea typeface="Arial" panose="020B0604020202020204"/>
                <a:cs typeface="Arial" panose="020B0604020202020204"/>
                <a:sym typeface="Arial" panose="020B0604020202020204"/>
              </a:rPr>
              <a:t>Swiggy Delivery Time Prediction</a:t>
            </a:r>
            <a:endParaRPr lang="en-US" altLang="en-US" sz="4000" b="1" i="0" u="none" strike="noStrike" cap="none">
              <a:solidFill>
                <a:schemeClr val="tx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endParaRPr lang="en-US" altLang="en-US" sz="4000" b="1" i="0" u="none" strike="noStrike" cap="none">
              <a:solidFill>
                <a:schemeClr val="tx1"/>
              </a:solidFill>
              <a:latin typeface="Arial" panose="020B0604020202020204"/>
              <a:ea typeface="Arial" panose="020B0604020202020204"/>
              <a:cs typeface="Arial" panose="020B0604020202020204"/>
              <a:sym typeface="Arial" panose="020B0604020202020204"/>
            </a:endParaRPr>
          </a:p>
        </p:txBody>
      </p:sp>
      <p:sp>
        <p:nvSpPr>
          <p:cNvPr id="1048586" name="Slide Number Placeholder 2"/>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
        <p:nvSpPr>
          <p:cNvPr id="1048587" name="Text Box 0"/>
          <p:cNvSpPr txBox="1"/>
          <p:nvPr/>
        </p:nvSpPr>
        <p:spPr>
          <a:xfrm>
            <a:off x="623570" y="5053330"/>
            <a:ext cx="3857625" cy="1438275"/>
          </a:xfrm>
          <a:prstGeom prst="rect">
            <a:avLst/>
          </a:prstGeom>
          <a:noFill/>
        </p:spPr>
        <p:txBody>
          <a:bodyPr wrap="square" rtlCol="0">
            <a:noAutofit/>
          </a:bodyPr>
          <a:p>
            <a:endParaRPr lang="en-US" sz="1600">
              <a:solidFill>
                <a:srgbClr val="FF0000"/>
              </a:solidFill>
              <a:latin typeface="Calibri" panose="020F0502020204030204" charset="0"/>
              <a:cs typeface="Calibri" panose="020F0502020204030204" charset="0"/>
            </a:endParaRPr>
          </a:p>
          <a:p>
            <a:pPr>
              <a:lnSpc>
                <a:spcPct val="150000"/>
              </a:lnSpc>
            </a:pPr>
            <a:r>
              <a:rPr lang="en-US" sz="1800" b="1">
                <a:solidFill>
                  <a:srgbClr val="FF0000"/>
                </a:solidFill>
                <a:latin typeface="Calibri" panose="020F0502020204030204" charset="0"/>
                <a:cs typeface="Calibri" panose="020F0502020204030204" charset="0"/>
              </a:rPr>
              <a:t>Presented by:</a:t>
            </a:r>
            <a:endParaRPr lang="en-US" sz="1800" b="1">
              <a:solidFill>
                <a:srgbClr val="FF0000"/>
              </a:solidFill>
              <a:latin typeface="Calibri" panose="020F0502020204030204" charset="0"/>
              <a:cs typeface="Calibri" panose="020F0502020204030204" charset="0"/>
            </a:endParaRPr>
          </a:p>
          <a:p>
            <a:r>
              <a:rPr lang="en-US" sz="2400">
                <a:latin typeface="Calibri" panose="020F0502020204030204" charset="0"/>
                <a:cs typeface="Calibri" panose="020F0502020204030204" charset="0"/>
              </a:rPr>
              <a:t>B. Pravallika</a:t>
            </a:r>
            <a:endParaRPr lang="en-US" sz="2400">
              <a:latin typeface="Calibri" panose="020F0502020204030204" charset="0"/>
              <a:cs typeface="Calibri" panose="020F0502020204030204" charset="0"/>
            </a:endParaRPr>
          </a:p>
          <a:p>
            <a:r>
              <a:rPr lang="en-US" sz="2400">
                <a:latin typeface="Calibri" panose="020F0502020204030204" charset="0"/>
                <a:cs typeface="Calibri" panose="020F0502020204030204" charset="0"/>
              </a:rPr>
              <a:t>Batch No: 480</a:t>
            </a:r>
            <a:endParaRPr lang="en-US" sz="2400">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5" name="Shape 103"/>
        <p:cNvGrpSpPr/>
        <p:nvPr/>
      </p:nvGrpSpPr>
      <p:grpSpPr>
        <a:xfrm>
          <a:off x="0" y="0"/>
          <a:ext cx="0" cy="0"/>
          <a:chOff x="0" y="0"/>
          <a:chExt cx="0" cy="0"/>
        </a:xfrm>
      </p:grpSpPr>
      <p:sp>
        <p:nvSpPr>
          <p:cNvPr id="1048593" name="Google Shape;104;p3"/>
          <p:cNvSpPr txBox="1"/>
          <p:nvPr/>
        </p:nvSpPr>
        <p:spPr>
          <a:xfrm>
            <a:off x="1064260" y="1852295"/>
            <a:ext cx="10131425" cy="3495675"/>
          </a:xfrm>
          <a:prstGeom prst="rect">
            <a:avLst/>
          </a:prstGeom>
          <a:noFill/>
          <a:ln>
            <a:noFill/>
          </a:ln>
        </p:spPr>
        <p:txBody>
          <a:bodyPr spcFirstLastPara="1" wrap="square" lIns="91425" tIns="45700" rIns="91425" bIns="45700" anchor="t" anchorCtr="0">
            <a:noAutofit/>
          </a:bodyPr>
          <a:p>
            <a:pPr marL="0" marR="0" lvl="0" indent="0" algn="just" rtl="0">
              <a:lnSpc>
                <a:spcPct val="100000"/>
              </a:lnSpc>
              <a:spcBef>
                <a:spcPts val="0"/>
              </a:spcBef>
              <a:spcAft>
                <a:spcPts val="0"/>
              </a:spcAft>
              <a:buClr>
                <a:schemeClr val="dk1"/>
              </a:buClr>
              <a:buSzPts val="2400"/>
              <a:buFont typeface="Arial" panose="020B0604020202020204"/>
              <a:buNone/>
            </a:pPr>
            <a:endParaRPr lang="en-IN" sz="20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sz="2000" i="0" u="none" strike="noStrike" cap="none">
                <a:solidFill>
                  <a:schemeClr val="dk1"/>
                </a:solidFill>
                <a:latin typeface="Calibri" panose="020F0502020204030204"/>
                <a:ea typeface="Calibri" panose="020F0502020204030204"/>
                <a:cs typeface="Calibri" panose="020F0502020204030204"/>
                <a:sym typeface="Calibri" panose="020F0502020204030204"/>
              </a:rPr>
              <a:t>I have  completed my B.Tech in Computer Science and </a:t>
            </a:r>
            <a:r>
              <a:rPr lang="en-US" sz="2000">
                <a:solidFill>
                  <a:schemeClr val="dk1"/>
                </a:solidFill>
                <a:latin typeface="Calibri" panose="020F0502020204030204"/>
                <a:ea typeface="Calibri" panose="020F0502020204030204"/>
                <a:cs typeface="Calibri" panose="020F0502020204030204"/>
                <a:sym typeface="Calibri" panose="020F0502020204030204"/>
              </a:rPr>
              <a:t>Engineering</a:t>
            </a:r>
            <a:r>
              <a:rPr lang="en-US" sz="200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endParaRPr lang="en-US" sz="20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0000"/>
              </a:lnSpc>
              <a:spcBef>
                <a:spcPts val="0"/>
              </a:spcBef>
              <a:spcAft>
                <a:spcPts val="0"/>
              </a:spcAft>
              <a:buClr>
                <a:schemeClr val="dk1"/>
              </a:buClr>
              <a:buSzPts val="2400"/>
              <a:buFont typeface="Arial" panose="020B0604020202020204"/>
              <a:buNone/>
            </a:pPr>
            <a:r>
              <a:rPr lang="en-US" sz="2000" i="0" u="none" strike="noStrike" cap="none">
                <a:solidFill>
                  <a:schemeClr val="dk1"/>
                </a:solidFill>
                <a:latin typeface="Calibri" panose="020F0502020204030204"/>
                <a:ea typeface="Calibri" panose="020F0502020204030204"/>
                <a:cs typeface="Calibri" panose="020F0502020204030204"/>
                <a:sym typeface="Calibri" panose="020F0502020204030204"/>
              </a:rPr>
              <a:t>     at Nalla Malla Reddy Engineering College.</a:t>
            </a:r>
            <a:r>
              <a:rPr lang="en-US" sz="240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endParaRPr sz="24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0000"/>
              </a:lnSpc>
              <a:spcBef>
                <a:spcPts val="0"/>
              </a:spcBef>
              <a:spcAft>
                <a:spcPts val="0"/>
              </a:spcAft>
              <a:buClr>
                <a:schemeClr val="dk1"/>
              </a:buClr>
              <a:buSzPts val="2400"/>
              <a:buFont typeface="Arial" panose="020B0604020202020204"/>
              <a:buNone/>
            </a:pPr>
            <a:endParaRPr lang="en-IN" sz="20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IN" sz="2000" i="0" u="none" strike="noStrike" cap="none">
                <a:solidFill>
                  <a:schemeClr val="dk1"/>
                </a:solidFill>
                <a:latin typeface="Calibri" panose="020F0502020204030204"/>
                <a:ea typeface="Calibri" panose="020F0502020204030204"/>
                <a:cs typeface="Calibri" panose="020F0502020204030204"/>
                <a:sym typeface="Calibri" panose="020F0502020204030204"/>
              </a:rPr>
              <a:t>Interested in leveraging data to drive </a:t>
            </a:r>
            <a:r>
              <a:rPr lang="en-US" altLang="en-IN" sz="2000">
                <a:solidFill>
                  <a:schemeClr val="dk1"/>
                </a:solidFill>
                <a:latin typeface="Calibri" panose="020F0502020204030204"/>
                <a:ea typeface="Calibri" panose="020F0502020204030204"/>
                <a:cs typeface="Calibri" panose="020F0502020204030204"/>
                <a:sym typeface="Calibri" panose="020F0502020204030204"/>
              </a:rPr>
              <a:t>insights and solutions in tech </a:t>
            </a:r>
            <a:r>
              <a:rPr lang="en-US" altLang="en-IN" sz="2000" i="0" u="none" strike="noStrike" cap="none">
                <a:solidFill>
                  <a:schemeClr val="dk1"/>
                </a:solidFill>
                <a:latin typeface="Calibri" panose="020F0502020204030204"/>
                <a:ea typeface="Calibri" panose="020F0502020204030204"/>
                <a:cs typeface="Calibri" panose="020F0502020204030204"/>
                <a:sym typeface="Calibri" panose="020F0502020204030204"/>
              </a:rPr>
              <a:t>and healthcare,</a:t>
            </a:r>
            <a:endParaRPr lang="en-US" altLang="en-IN" sz="20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0000"/>
              </a:lnSpc>
              <a:spcBef>
                <a:spcPts val="0"/>
              </a:spcBef>
              <a:spcAft>
                <a:spcPts val="0"/>
              </a:spcAft>
              <a:buClr>
                <a:schemeClr val="dk1"/>
              </a:buClr>
              <a:buSzPts val="2400"/>
              <a:buNone/>
            </a:pPr>
            <a:r>
              <a:rPr lang="en-US" altLang="en-IN" sz="200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US" altLang="en-IN" sz="2000">
                <a:solidFill>
                  <a:schemeClr val="dk1"/>
                </a:solidFill>
                <a:latin typeface="Calibri" panose="020F0502020204030204"/>
                <a:ea typeface="Calibri" panose="020F0502020204030204"/>
                <a:cs typeface="Calibri" panose="020F0502020204030204"/>
                <a:sym typeface="Calibri" panose="020F0502020204030204"/>
              </a:rPr>
              <a:t>solving real-world problems.</a:t>
            </a:r>
            <a:endParaRPr sz="20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323850" algn="just" rtl="0">
              <a:lnSpc>
                <a:spcPct val="100000"/>
              </a:lnSpc>
              <a:spcBef>
                <a:spcPts val="0"/>
              </a:spcBef>
              <a:spcAft>
                <a:spcPts val="0"/>
              </a:spcAft>
              <a:buClr>
                <a:schemeClr val="dk1"/>
              </a:buClr>
              <a:buSzPts val="2400"/>
              <a:buFont typeface="Calibri" panose="020F0502020204030204"/>
              <a:buChar char="•"/>
            </a:pPr>
            <a:endParaRPr lang="en-US" altLang="en-US" sz="20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0000"/>
              </a:lnSpc>
              <a:spcBef>
                <a:spcPts val="0"/>
              </a:spcBef>
              <a:spcAft>
                <a:spcPts val="0"/>
              </a:spcAft>
              <a:buClr>
                <a:schemeClr val="dk1"/>
              </a:buClr>
              <a:buSzPts val="2400"/>
              <a:buFont typeface="Calibri" panose="020F0502020204030204"/>
              <a:buNone/>
            </a:pPr>
            <a:r>
              <a:rPr lang="en-US" altLang="en-US" sz="2000" i="0" u="none" strike="noStrike" cap="none">
                <a:solidFill>
                  <a:schemeClr val="accent5">
                    <a:lumMod val="50000"/>
                  </a:schemeClr>
                </a:solidFill>
                <a:latin typeface="Calibri" panose="020F0502020204030204"/>
                <a:ea typeface="Calibri" panose="020F0502020204030204"/>
                <a:cs typeface="Calibri" panose="020F0502020204030204"/>
                <a:sym typeface="Calibri" panose="020F0502020204030204"/>
              </a:rPr>
              <a:t>   </a:t>
            </a:r>
            <a:r>
              <a:rPr lang="en-US" altLang="en-US" sz="2000" b="1" i="0" u="none" strike="noStrike" cap="none">
                <a:solidFill>
                  <a:schemeClr val="accent5">
                    <a:lumMod val="50000"/>
                  </a:schemeClr>
                </a:solidFill>
                <a:latin typeface="Calibri" panose="020F0502020204030204"/>
                <a:ea typeface="Calibri" panose="020F0502020204030204"/>
                <a:cs typeface="Calibri" panose="020F0502020204030204"/>
                <a:sym typeface="Calibri" panose="020F0502020204030204"/>
              </a:rPr>
              <a:t>  https://www.linkedin.com/in/baddam-pravallika</a:t>
            </a:r>
            <a:endParaRPr lang="en-US" altLang="en-US" sz="2000" b="1" i="0" u="none" strike="noStrike" cap="none">
              <a:solidFill>
                <a:schemeClr val="accent5">
                  <a:lumMod val="50000"/>
                </a:schemeClr>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0000"/>
              </a:lnSpc>
              <a:spcBef>
                <a:spcPts val="0"/>
              </a:spcBef>
              <a:spcAft>
                <a:spcPts val="0"/>
              </a:spcAft>
              <a:buClr>
                <a:schemeClr val="dk1"/>
              </a:buClr>
              <a:buSzPts val="2400"/>
              <a:buFont typeface="Calibri" panose="020F0502020204030204"/>
              <a:buNone/>
            </a:pPr>
            <a:r>
              <a:rPr lang="en-US" altLang="en-US" sz="2000" b="1" i="0" u="none" strike="noStrike" cap="none">
                <a:solidFill>
                  <a:schemeClr val="accent5">
                    <a:lumMod val="50000"/>
                  </a:schemeClr>
                </a:solidFill>
                <a:latin typeface="Calibri" panose="020F0502020204030204"/>
                <a:ea typeface="Calibri" panose="020F0502020204030204"/>
                <a:cs typeface="Calibri" panose="020F0502020204030204"/>
                <a:sym typeface="Calibri" panose="020F0502020204030204"/>
              </a:rPr>
              <a:t>     https://github.com/Baddampravallika</a:t>
            </a:r>
            <a:endParaRPr lang="en-US" altLang="en-US" sz="2000" b="1" i="0" u="none" strike="noStrike" cap="none">
              <a:solidFill>
                <a:schemeClr val="accent5">
                  <a:lumMod val="50000"/>
                </a:schemeClr>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0000"/>
              </a:lnSpc>
              <a:spcBef>
                <a:spcPts val="0"/>
              </a:spcBef>
              <a:spcAft>
                <a:spcPts val="0"/>
              </a:spcAft>
              <a:buClr>
                <a:schemeClr val="dk1"/>
              </a:buClr>
              <a:buSzPts val="2400"/>
              <a:buFont typeface="Calibri" panose="020F0502020204030204"/>
              <a:buNone/>
            </a:pPr>
            <a:r>
              <a:rPr lang="en-US" altLang="en-US" sz="200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endParaRPr lang="en-US" altLang="en-US" sz="20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594" name="Google Shape;105;p3"/>
          <p:cNvSpPr txBox="1"/>
          <p:nvPr/>
        </p:nvSpPr>
        <p:spPr>
          <a:xfrm>
            <a:off x="1188720" y="995680"/>
            <a:ext cx="5337810" cy="535305"/>
          </a:xfrm>
          <a:prstGeom prst="rect">
            <a:avLst/>
          </a:prstGeom>
          <a:noFill/>
          <a:ln>
            <a:noFill/>
          </a:ln>
        </p:spPr>
        <p:txBody>
          <a:bodyPr spcFirstLastPara="1" wrap="square" lIns="91425" tIns="45700" rIns="91425" bIns="45700" anchor="t" anchorCtr="0">
            <a:noAutofit/>
          </a:bodyPr>
          <a:p>
            <a:pPr marL="0" marR="0" lvl="0" indent="0" algn="l" rtl="0">
              <a:lnSpc>
                <a:spcPct val="80000"/>
              </a:lnSpc>
              <a:spcBef>
                <a:spcPts val="0"/>
              </a:spcBef>
              <a:spcAft>
                <a:spcPts val="0"/>
              </a:spcAft>
              <a:buClr>
                <a:srgbClr val="FF0000"/>
              </a:buClr>
              <a:buSzPts val="3200"/>
              <a:buFont typeface="Lato Black" panose="020F0802020204030203"/>
              <a:buNone/>
            </a:pPr>
            <a:r>
              <a:rPr lang="en-IN" sz="4400" b="0" i="0" u="none" strike="noStrike" cap="none">
                <a:solidFill>
                  <a:srgbClr val="FF0000"/>
                </a:solidFill>
                <a:latin typeface="Lato Black" panose="020F0802020204030203"/>
                <a:ea typeface="Lato Black" panose="020F0802020204030203"/>
                <a:cs typeface="Lato Black" panose="020F0802020204030203"/>
                <a:sym typeface="Lato Black" panose="020F0802020204030203"/>
              </a:rPr>
              <a:t>About me</a:t>
            </a:r>
            <a:endParaRPr lang="en-IN" sz="4400" b="0" i="0" u="none" strike="noStrike" cap="none">
              <a:solidFill>
                <a:srgbClr val="FF0000"/>
              </a:solidFill>
              <a:latin typeface="Lato Black" panose="020F0802020204030203"/>
              <a:ea typeface="Lato Black" panose="020F0802020204030203"/>
              <a:cs typeface="Lato Black" panose="020F0802020204030203"/>
              <a:sym typeface="Lato Black" panose="020F0802020204030203"/>
            </a:endParaRPr>
          </a:p>
        </p:txBody>
      </p:sp>
      <p:sp>
        <p:nvSpPr>
          <p:cNvPr id="1048595" name="Slide Number Placeholder 2"/>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48594"/>
                                        </p:tgtEl>
                                        <p:attrNameLst>
                                          <p:attrName>style.visibility</p:attrName>
                                        </p:attrNameLst>
                                      </p:cBhvr>
                                      <p:to>
                                        <p:strVal val="visible"/>
                                      </p:to>
                                    </p:set>
                                    <p:animEffect transition="in" filter="fade">
                                      <p:cBhvr>
                                        <p:cTn id="7" dur="500"/>
                                        <p:tgtEl>
                                          <p:spTgt spid="1048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975995" y="274955"/>
            <a:ext cx="3706495" cy="686435"/>
          </a:xfrm>
        </p:spPr>
        <p:txBody>
          <a:bodyPr/>
          <a:p>
            <a:pPr algn="l"/>
            <a:r>
              <a:rPr lang="en-US" b="1">
                <a:solidFill>
                  <a:srgbClr val="FF0000"/>
                </a:solidFill>
              </a:rPr>
              <a:t>  Agenda</a:t>
            </a:r>
            <a:endParaRPr lang="en-US" b="1">
              <a:solidFill>
                <a:srgbClr val="FF0000"/>
              </a:solidFill>
            </a:endParaRPr>
          </a:p>
        </p:txBody>
      </p:sp>
      <p:sp>
        <p:nvSpPr>
          <p:cNvPr id="7" name="Content Placeholder 6"/>
          <p:cNvSpPr>
            <a:spLocks noGrp="1"/>
          </p:cNvSpPr>
          <p:nvPr>
            <p:ph idx="1"/>
          </p:nvPr>
        </p:nvSpPr>
        <p:spPr>
          <a:xfrm>
            <a:off x="894080" y="1068070"/>
            <a:ext cx="4521200" cy="5133340"/>
          </a:xfrm>
        </p:spPr>
        <p:txBody>
          <a:bodyPr/>
          <a:p>
            <a:r>
              <a:rPr lang="en-US" sz="2200">
                <a:sym typeface="+mn-ea"/>
              </a:rPr>
              <a:t>Introduction</a:t>
            </a:r>
            <a:endParaRPr lang="en-US" sz="2200">
              <a:sym typeface="+mn-ea"/>
            </a:endParaRPr>
          </a:p>
          <a:p>
            <a:r>
              <a:rPr lang="en-US" sz="2200">
                <a:sym typeface="+mn-ea"/>
              </a:rPr>
              <a:t>CRISP-ML(Q)</a:t>
            </a:r>
            <a:endParaRPr lang="en-US" sz="2200"/>
          </a:p>
          <a:p>
            <a:r>
              <a:rPr lang="en-US" sz="2200"/>
              <a:t>Business Problem</a:t>
            </a:r>
            <a:endParaRPr lang="en-US" sz="2200"/>
          </a:p>
          <a:p>
            <a:r>
              <a:rPr lang="en-US" sz="2200"/>
              <a:t>Objective</a:t>
            </a:r>
            <a:endParaRPr lang="en-US" sz="2200"/>
          </a:p>
          <a:p>
            <a:r>
              <a:rPr lang="en-US" sz="2200"/>
              <a:t>Dataset Overview</a:t>
            </a:r>
            <a:endParaRPr lang="en-US" sz="2200"/>
          </a:p>
          <a:p>
            <a:r>
              <a:rPr lang="en-US" sz="2200"/>
              <a:t>Data Preprocessing</a:t>
            </a:r>
            <a:endParaRPr lang="en-US" sz="2200"/>
          </a:p>
          <a:p>
            <a:r>
              <a:rPr lang="en-US" sz="2200"/>
              <a:t>Model Building</a:t>
            </a:r>
            <a:endParaRPr lang="en-US" sz="2200"/>
          </a:p>
          <a:p>
            <a:r>
              <a:rPr lang="en-US" sz="2200"/>
              <a:t>Model Evaluation and Selection</a:t>
            </a:r>
            <a:endParaRPr lang="en-US" sz="2200"/>
          </a:p>
          <a:p>
            <a:r>
              <a:rPr lang="en-US" sz="2200"/>
              <a:t>Model Deployment</a:t>
            </a:r>
            <a:endParaRPr lang="en-US" sz="2200"/>
          </a:p>
          <a:p>
            <a:r>
              <a:rPr lang="en-US" sz="2200"/>
              <a:t>Challenges</a:t>
            </a:r>
            <a:endParaRPr lang="en-US" sz="2200"/>
          </a:p>
          <a:p>
            <a:r>
              <a:rPr lang="en-US" sz="2200"/>
              <a:t>Key Insights</a:t>
            </a:r>
            <a:endParaRPr lang="en-US" sz="2200"/>
          </a:p>
          <a:p>
            <a:r>
              <a:rPr lang="en-US" sz="2200"/>
              <a:t>Recommendations</a:t>
            </a:r>
            <a:endParaRPr lang="en-US" sz="2200"/>
          </a:p>
          <a:p>
            <a:r>
              <a:rPr lang="en-US" sz="2000">
                <a:sym typeface="+mn-ea"/>
              </a:rPr>
              <a:t>Conclusion</a:t>
            </a:r>
            <a:endParaRPr lang="en-US" sz="2000"/>
          </a:p>
          <a:p>
            <a:endParaRPr lang="en-US" sz="2000"/>
          </a:p>
          <a:p>
            <a:endParaRPr 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pic>
        <p:nvPicPr>
          <p:cNvPr id="3" name="Picture 2" descr="swiggy"/>
          <p:cNvPicPr>
            <a:picLocks noChangeAspect="1"/>
          </p:cNvPicPr>
          <p:nvPr/>
        </p:nvPicPr>
        <p:blipFill>
          <a:blip r:embed="rId1"/>
          <a:stretch>
            <a:fillRect/>
          </a:stretch>
        </p:blipFill>
        <p:spPr>
          <a:xfrm>
            <a:off x="5650865" y="1377315"/>
            <a:ext cx="5276850" cy="37884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rgbClr val="FF0000"/>
                </a:solidFill>
              </a:rPr>
              <a:t>Introduction</a:t>
            </a:r>
            <a:endParaRPr lang="en-US">
              <a:solidFill>
                <a:srgbClr val="FF0000"/>
              </a:solidFill>
            </a:endParaRPr>
          </a:p>
        </p:txBody>
      </p:sp>
      <p:sp>
        <p:nvSpPr>
          <p:cNvPr id="3" name="Content Placeholder 2"/>
          <p:cNvSpPr>
            <a:spLocks noGrp="1"/>
          </p:cNvSpPr>
          <p:nvPr>
            <p:ph idx="1"/>
          </p:nvPr>
        </p:nvSpPr>
        <p:spPr>
          <a:xfrm>
            <a:off x="953770" y="1474470"/>
            <a:ext cx="10265410" cy="4652010"/>
          </a:xfrm>
        </p:spPr>
        <p:txBody>
          <a:bodyPr/>
          <a:p>
            <a:pPr algn="just">
              <a:lnSpc>
                <a:spcPct val="120000"/>
              </a:lnSpc>
            </a:pPr>
            <a:r>
              <a:rPr lang="en-US" altLang="en-US" sz="2000"/>
              <a:t>In high-volume food delivery, unpredictable factors like traffic, weather, and restaurant delays make estimating accurate delivery times (ETA-Estimated Time of Arrival) extremely difficult. Inaccurate ETAs lead to customer dissatisfaction, order cancellations, and higher operational costs.</a:t>
            </a:r>
            <a:endParaRPr lang="en-US" altLang="en-US" sz="2000"/>
          </a:p>
          <a:p>
            <a:pPr algn="just">
              <a:lnSpc>
                <a:spcPct val="120000"/>
              </a:lnSpc>
            </a:pPr>
            <a:r>
              <a:rPr lang="en-US" altLang="en-US" sz="2000"/>
              <a:t>A Machine Learning regression model is developed to process historical delivery data including rider, location, and environmental variables—to predict delivery time with high precision. By moving from static estimates to data-driven predictions, the model helps optimize logistics, minimize delays, and improve the overall customer experience.</a:t>
            </a:r>
            <a:endParaRPr lang="en-US" alt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973455"/>
          </a:xfrm>
        </p:spPr>
        <p:txBody>
          <a:bodyPr/>
          <a:p>
            <a:r>
              <a:rPr lang="en-US" b="1" dirty="0">
                <a:solidFill>
                  <a:srgbClr val="FF0000"/>
                </a:solidFill>
                <a:sym typeface="+mn-ea"/>
              </a:rPr>
              <a:t>CRISP-ML(Q)</a:t>
            </a:r>
            <a:endParaRPr lang="en-US" b="1" dirty="0">
              <a:solidFill>
                <a:srgbClr val="FF0000"/>
              </a:solidFill>
              <a:sym typeface="+mn-ea"/>
            </a:endParaRPr>
          </a:p>
        </p:txBody>
      </p:sp>
      <p:sp>
        <p:nvSpPr>
          <p:cNvPr id="3" name="Content Placeholder 2"/>
          <p:cNvSpPr>
            <a:spLocks noGrp="1"/>
          </p:cNvSpPr>
          <p:nvPr>
            <p:ph idx="1"/>
          </p:nvPr>
        </p:nvSpPr>
        <p:spPr>
          <a:xfrm>
            <a:off x="996315" y="1169670"/>
            <a:ext cx="10272395" cy="4956810"/>
          </a:xfrm>
        </p:spPr>
        <p:txBody>
          <a:bodyPr/>
          <a:p>
            <a:pPr marL="25400" indent="0">
              <a:buClr>
                <a:srgbClr val="FF0000"/>
              </a:buClr>
              <a:buSzPts val="2400"/>
              <a:buNone/>
            </a:pPr>
            <a:r>
              <a:rPr lang="en-US" sz="2000" b="1" dirty="0">
                <a:sym typeface="+mn-ea"/>
              </a:rPr>
              <a:t>CRISP-ML(Q)</a:t>
            </a:r>
            <a:r>
              <a:rPr lang="en-US" sz="2000" dirty="0">
                <a:sym typeface="+mn-ea"/>
              </a:rPr>
              <a:t> is a framework used for machine learning project development.</a:t>
            </a:r>
            <a:endParaRPr lang="en-IN" sz="2000" b="1" dirty="0">
              <a:solidFill>
                <a:srgbClr val="FF0000"/>
              </a:solidFill>
            </a:endParaRPr>
          </a:p>
          <a:p>
            <a:pPr marL="571500" indent="-457200">
              <a:buFont typeface="+mj-lt"/>
              <a:buAutoNum type="arabicPeriod"/>
            </a:pPr>
            <a:r>
              <a:rPr lang="en-US" sz="2000" b="1" dirty="0">
                <a:sym typeface="+mn-ea"/>
              </a:rPr>
              <a:t>Business and Data Understanding</a:t>
            </a:r>
            <a:br>
              <a:rPr lang="en-US" sz="2000" dirty="0">
                <a:sym typeface="+mn-ea"/>
              </a:rPr>
            </a:br>
            <a:r>
              <a:rPr lang="en-US" sz="2000" dirty="0">
                <a:sym typeface="+mn-ea"/>
              </a:rPr>
              <a:t>Identify the problem and understand the dataset. </a:t>
            </a:r>
            <a:endParaRPr lang="en-US" sz="2000" dirty="0"/>
          </a:p>
          <a:p>
            <a:pPr marL="571500" indent="-457200">
              <a:buFont typeface="+mj-lt"/>
              <a:buAutoNum type="arabicPeriod"/>
            </a:pPr>
            <a:r>
              <a:rPr lang="en-US" sz="2000" b="1" dirty="0">
                <a:sym typeface="+mn-ea"/>
              </a:rPr>
              <a:t>Data Preparation</a:t>
            </a:r>
            <a:endParaRPr lang="en-US" sz="2000" b="1" dirty="0"/>
          </a:p>
          <a:p>
            <a:pPr marL="114300" indent="0">
              <a:buNone/>
            </a:pPr>
            <a:r>
              <a:rPr lang="en-US" sz="2000" b="1" dirty="0">
                <a:sym typeface="+mn-ea"/>
              </a:rPr>
              <a:t>       </a:t>
            </a:r>
            <a:r>
              <a:rPr lang="en-US" sz="2000" dirty="0">
                <a:sym typeface="+mn-ea"/>
              </a:rPr>
              <a:t>Clean and transform the data. </a:t>
            </a:r>
            <a:endParaRPr lang="en-US" sz="2000" dirty="0"/>
          </a:p>
          <a:p>
            <a:pPr marL="571500" indent="-457200">
              <a:buFont typeface="+mj-lt"/>
              <a:buAutoNum type="arabicPeriod" startAt="3"/>
            </a:pPr>
            <a:r>
              <a:rPr lang="en-US" sz="2000" b="1" dirty="0">
                <a:sym typeface="+mn-ea"/>
              </a:rPr>
              <a:t>Modeling Building</a:t>
            </a:r>
            <a:endParaRPr lang="en-US" sz="2000" b="1" dirty="0">
              <a:sym typeface="+mn-ea"/>
            </a:endParaRPr>
          </a:p>
          <a:p>
            <a:pPr marL="114300" indent="0">
              <a:buFont typeface="+mj-lt"/>
              <a:buNone/>
            </a:pPr>
            <a:r>
              <a:rPr lang="en-US" sz="2000" dirty="0">
                <a:sym typeface="+mn-ea"/>
              </a:rPr>
              <a:t>       Train the machine learning model. </a:t>
            </a:r>
            <a:endParaRPr lang="en-US" sz="2000" dirty="0"/>
          </a:p>
          <a:p>
            <a:pPr marL="571500" indent="-457200">
              <a:buFont typeface="+mj-lt"/>
              <a:buAutoNum type="arabicPeriod" startAt="4"/>
            </a:pPr>
            <a:r>
              <a:rPr lang="en-US" sz="2000" b="1" dirty="0">
                <a:sym typeface="+mn-ea"/>
              </a:rPr>
              <a:t>Model Evaluation</a:t>
            </a:r>
            <a:endParaRPr lang="en-US" sz="2000" b="1" dirty="0"/>
          </a:p>
          <a:p>
            <a:pPr marL="114300" indent="0">
              <a:buNone/>
            </a:pPr>
            <a:r>
              <a:rPr lang="en-US" sz="2000" dirty="0">
                <a:sym typeface="+mn-ea"/>
              </a:rPr>
              <a:t>       </a:t>
            </a:r>
            <a:r>
              <a:rPr lang="en-IN" sz="2000" dirty="0">
                <a:sym typeface="+mn-ea"/>
              </a:rPr>
              <a:t>Test the model performance. </a:t>
            </a:r>
            <a:endParaRPr lang="en-US" sz="2000" dirty="0"/>
          </a:p>
          <a:p>
            <a:pPr marL="571500" indent="-457200">
              <a:buFont typeface="+mj-lt"/>
              <a:buAutoNum type="arabicPeriod" startAt="5"/>
            </a:pPr>
            <a:r>
              <a:rPr lang="en-US" sz="2000" b="1" dirty="0">
                <a:sym typeface="+mn-ea"/>
              </a:rPr>
              <a:t>Model Deployment</a:t>
            </a:r>
            <a:endParaRPr lang="en-US" sz="2000" dirty="0"/>
          </a:p>
          <a:p>
            <a:pPr marL="114300" indent="0">
              <a:buNone/>
            </a:pPr>
            <a:r>
              <a:rPr lang="en-US" sz="2000" dirty="0">
                <a:sym typeface="+mn-ea"/>
              </a:rPr>
              <a:t>       Implement the model in a real system.</a:t>
            </a:r>
            <a:endParaRPr lang="en-US" sz="2000" dirty="0"/>
          </a:p>
          <a:p>
            <a:pPr marL="571500" indent="-457200">
              <a:buFont typeface="+mj-lt"/>
              <a:buAutoNum type="arabicPeriod" startAt="6"/>
            </a:pPr>
            <a:r>
              <a:rPr lang="en-US" sz="2000" b="1" dirty="0">
                <a:sym typeface="+mn-ea"/>
              </a:rPr>
              <a:t>Monitoring &amp; Maintenance</a:t>
            </a:r>
            <a:endParaRPr lang="en-US" sz="2000" dirty="0"/>
          </a:p>
          <a:p>
            <a:pPr marL="114300" indent="0">
              <a:buNone/>
            </a:pPr>
            <a:r>
              <a:rPr lang="en-US" sz="2000" dirty="0">
                <a:sym typeface="+mn-ea"/>
              </a:rPr>
              <a:t>       Continuous monitoring and improving the model.</a:t>
            </a:r>
            <a:endParaRPr lang="en-US" sz="2000" dirty="0"/>
          </a:p>
          <a:p>
            <a:endParaRPr 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843915"/>
          </a:xfrm>
        </p:spPr>
        <p:txBody>
          <a:bodyPr/>
          <a:p>
            <a:r>
              <a:rPr lang="en-US" b="1">
                <a:solidFill>
                  <a:srgbClr val="FF0000"/>
                </a:solidFill>
              </a:rPr>
              <a:t>Business Problem</a:t>
            </a:r>
            <a:endParaRPr lang="en-US" b="1">
              <a:solidFill>
                <a:srgbClr val="FF0000"/>
              </a:solidFill>
            </a:endParaRPr>
          </a:p>
        </p:txBody>
      </p:sp>
      <p:sp>
        <p:nvSpPr>
          <p:cNvPr id="3" name="Content Placeholder 2"/>
          <p:cNvSpPr>
            <a:spLocks noGrp="1"/>
          </p:cNvSpPr>
          <p:nvPr>
            <p:ph idx="1"/>
          </p:nvPr>
        </p:nvSpPr>
        <p:spPr>
          <a:xfrm>
            <a:off x="957580" y="1118235"/>
            <a:ext cx="10251440" cy="4911090"/>
          </a:xfrm>
        </p:spPr>
        <p:txBody>
          <a:bodyPr/>
          <a:p>
            <a:pPr marL="0" indent="0" algn="just">
              <a:lnSpc>
                <a:spcPct val="130000"/>
              </a:lnSpc>
              <a:buNone/>
            </a:pPr>
            <a:r>
              <a:rPr lang="en-US" altLang="en-US" sz="2000"/>
              <a:t>Swiggy processes millions of food delivery orders daily and must provide accurate delivery time estimates (ETA) to ensure customer satisfaction. However, factors such as traffic congestion, weather conditions, restaurant preparation delays, delivery distance, rider availability, and peak-hour demand make delivery times difficult to predict. Inaccurate ETAs can lead to customer dissatisfaction, order cancellations, and operational inefficiencies.</a:t>
            </a:r>
            <a:endParaRPr lang="en-US" altLang="en-US" sz="2000"/>
          </a:p>
          <a:p>
            <a:pPr>
              <a:lnSpc>
                <a:spcPct val="120000"/>
              </a:lnSpc>
              <a:buFont typeface="Wingdings" panose="05000000000000000000" charset="0"/>
              <a:buChar char="Ø"/>
            </a:pPr>
            <a:r>
              <a:rPr lang="en-US" altLang="en-US" sz="2000" b="1">
                <a:sym typeface="+mn-ea"/>
              </a:rPr>
              <a:t>Key Challenges</a:t>
            </a:r>
            <a:endParaRPr lang="en-US" altLang="en-US" sz="2000" b="1"/>
          </a:p>
          <a:p>
            <a:pPr>
              <a:lnSpc>
                <a:spcPct val="120000"/>
              </a:lnSpc>
            </a:pPr>
            <a:r>
              <a:rPr lang="en-US" altLang="en-US" sz="2000">
                <a:sym typeface="+mn-ea"/>
              </a:rPr>
              <a:t>Traffic congestion and route delays</a:t>
            </a:r>
            <a:endParaRPr lang="en-US" altLang="en-US" sz="2000"/>
          </a:p>
          <a:p>
            <a:pPr>
              <a:lnSpc>
                <a:spcPct val="120000"/>
              </a:lnSpc>
            </a:pPr>
            <a:r>
              <a:rPr lang="en-US" altLang="en-US" sz="2000">
                <a:sym typeface="+mn-ea"/>
              </a:rPr>
              <a:t>Restaurant preparation time variations</a:t>
            </a:r>
            <a:endParaRPr lang="en-US" altLang="en-US" sz="2000"/>
          </a:p>
          <a:p>
            <a:pPr>
              <a:lnSpc>
                <a:spcPct val="120000"/>
              </a:lnSpc>
            </a:pPr>
            <a:r>
              <a:rPr lang="en-US" altLang="en-US" sz="2000">
                <a:sym typeface="+mn-ea"/>
              </a:rPr>
              <a:t>Weather conditions</a:t>
            </a:r>
            <a:endParaRPr lang="en-US" altLang="en-US" sz="2000"/>
          </a:p>
          <a:p>
            <a:pPr>
              <a:lnSpc>
                <a:spcPct val="120000"/>
              </a:lnSpc>
            </a:pPr>
            <a:r>
              <a:rPr lang="en-US" altLang="en-US" sz="2000">
                <a:sym typeface="+mn-ea"/>
              </a:rPr>
              <a:t>Delivery partner availability</a:t>
            </a:r>
            <a:endParaRPr lang="en-US" altLang="en-US" sz="2000"/>
          </a:p>
          <a:p>
            <a:pPr>
              <a:lnSpc>
                <a:spcPct val="120000"/>
              </a:lnSpc>
            </a:pPr>
            <a:r>
              <a:rPr lang="en-US" altLang="en-US" sz="2000">
                <a:sym typeface="+mn-ea"/>
              </a:rPr>
              <a:t>City-wise operational differences</a:t>
            </a:r>
            <a:endParaRPr lang="en-US" altLang="en-US" sz="2000"/>
          </a:p>
          <a:p>
            <a:pPr marL="0" indent="0" algn="just">
              <a:lnSpc>
                <a:spcPct val="130000"/>
              </a:lnSpc>
              <a:buNone/>
            </a:pPr>
            <a:endParaRPr lang="en-US" alt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1063625"/>
          </a:xfrm>
        </p:spPr>
        <p:txBody>
          <a:bodyPr/>
          <a:p>
            <a:r>
              <a:rPr lang="en-US" b="1">
                <a:solidFill>
                  <a:srgbClr val="FF0000"/>
                </a:solidFill>
              </a:rPr>
              <a:t>Objective</a:t>
            </a:r>
            <a:endParaRPr lang="en-US" b="1">
              <a:solidFill>
                <a:srgbClr val="FF0000"/>
              </a:solidFill>
            </a:endParaRPr>
          </a:p>
        </p:txBody>
      </p:sp>
      <p:sp>
        <p:nvSpPr>
          <p:cNvPr id="3" name="Content Placeholder 2"/>
          <p:cNvSpPr>
            <a:spLocks noGrp="1"/>
          </p:cNvSpPr>
          <p:nvPr>
            <p:ph idx="1"/>
          </p:nvPr>
        </p:nvSpPr>
        <p:spPr>
          <a:xfrm>
            <a:off x="1026160" y="1349375"/>
            <a:ext cx="10003155" cy="4777105"/>
          </a:xfrm>
        </p:spPr>
        <p:txBody>
          <a:bodyPr/>
          <a:p>
            <a:pPr marL="0" indent="0" algn="just">
              <a:lnSpc>
                <a:spcPct val="120000"/>
              </a:lnSpc>
              <a:buNone/>
            </a:pPr>
            <a:r>
              <a:rPr lang="en-US" altLang="en-US" sz="2000"/>
              <a:t>Swiggy’s objective is to predict the delivery time (in minutes) for each order at the time of order placement.The goal is to build a scalable Machine Learning model that predicts per-order delivery time using factors such as order details, rider information, restaurant location, delivery distance, traffic conditions, weather, and time-related features.</a:t>
            </a:r>
            <a:endParaRPr lang="en-US" altLang="en-US" sz="2000"/>
          </a:p>
          <a:p>
            <a:pPr marL="0" indent="0" algn="just">
              <a:lnSpc>
                <a:spcPct val="120000"/>
              </a:lnSpc>
              <a:buNone/>
            </a:pPr>
            <a:r>
              <a:rPr lang="en-US" altLang="en-US" sz="2000" b="1"/>
              <a:t>Objectives:</a:t>
            </a:r>
            <a:endParaRPr lang="en-US" altLang="en-US" sz="2000" b="1"/>
          </a:p>
          <a:p>
            <a:pPr algn="just">
              <a:lnSpc>
                <a:spcPct val="120000"/>
              </a:lnSpc>
              <a:buFont typeface="Wingdings" panose="05000000000000000000" charset="0"/>
              <a:buChar char="Ø"/>
            </a:pPr>
            <a:r>
              <a:rPr lang="en-US" altLang="en-US" sz="2000"/>
              <a:t>Analyze delivery time factors.</a:t>
            </a:r>
            <a:endParaRPr lang="en-US" altLang="en-US" sz="2000"/>
          </a:p>
          <a:p>
            <a:pPr algn="just">
              <a:lnSpc>
                <a:spcPct val="120000"/>
              </a:lnSpc>
              <a:buFont typeface="Wingdings" panose="05000000000000000000" charset="0"/>
              <a:buChar char="Ø"/>
            </a:pPr>
            <a:r>
              <a:rPr lang="en-US" altLang="en-US" sz="2000"/>
              <a:t>Predict food delivery time accurately.</a:t>
            </a:r>
            <a:endParaRPr lang="en-US" altLang="en-US" sz="2000"/>
          </a:p>
          <a:p>
            <a:pPr algn="just">
              <a:lnSpc>
                <a:spcPct val="120000"/>
              </a:lnSpc>
              <a:buFont typeface="Wingdings" panose="05000000000000000000" charset="0"/>
              <a:buChar char="Ø"/>
            </a:pPr>
            <a:r>
              <a:rPr lang="en-US" altLang="en-US" sz="2000"/>
              <a:t>Improve ETA reliability.</a:t>
            </a:r>
            <a:endParaRPr lang="en-US" altLang="en-US" sz="2000"/>
          </a:p>
          <a:p>
            <a:pPr algn="just">
              <a:lnSpc>
                <a:spcPct val="120000"/>
              </a:lnSpc>
              <a:buFont typeface="Wingdings" panose="05000000000000000000" charset="0"/>
              <a:buChar char="Ø"/>
            </a:pPr>
            <a:r>
              <a:rPr lang="en-US" altLang="en-US" sz="2000"/>
              <a:t>Enhance customer satisfaction.</a:t>
            </a:r>
            <a:endParaRPr lang="en-US" altLang="en-US" sz="2000"/>
          </a:p>
          <a:p>
            <a:pPr algn="just">
              <a:lnSpc>
                <a:spcPct val="120000"/>
              </a:lnSpc>
              <a:buFont typeface="Wingdings" panose="05000000000000000000" charset="0"/>
              <a:buChar char="Ø"/>
            </a:pPr>
            <a:r>
              <a:rPr lang="en-US" altLang="en-US" sz="2000"/>
              <a:t>Optimize delivery operations.</a:t>
            </a:r>
            <a:endParaRPr lang="en-US" alt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rgbClr val="FF0000"/>
                </a:solidFill>
              </a:rPr>
              <a:t>Dataset Overview</a:t>
            </a:r>
            <a:endParaRPr lang="en-US" b="1">
              <a:solidFill>
                <a:srgbClr val="FF0000"/>
              </a:solidFill>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
        <p:nvSpPr>
          <p:cNvPr id="7" name="Text Box 6"/>
          <p:cNvSpPr txBox="1"/>
          <p:nvPr/>
        </p:nvSpPr>
        <p:spPr>
          <a:xfrm>
            <a:off x="1146175" y="1527810"/>
            <a:ext cx="5872480" cy="4589780"/>
          </a:xfrm>
          <a:prstGeom prst="rect">
            <a:avLst/>
          </a:prstGeom>
          <a:noFill/>
        </p:spPr>
        <p:txBody>
          <a:bodyPr wrap="square" rtlCol="0">
            <a:noAutofit/>
          </a:bodyPr>
          <a:p>
            <a:endParaRPr lang="en-US" altLang="en-US" sz="2000"/>
          </a:p>
          <a:p>
            <a:endParaRPr lang="en-US" altLang="en-US" sz="2000"/>
          </a:p>
        </p:txBody>
      </p:sp>
      <p:sp>
        <p:nvSpPr>
          <p:cNvPr id="8" name="Content Placeholder 7"/>
          <p:cNvSpPr/>
          <p:nvPr>
            <p:ph idx="1"/>
          </p:nvPr>
        </p:nvSpPr>
        <p:spPr>
          <a:xfrm>
            <a:off x="793750" y="1400175"/>
            <a:ext cx="10736580" cy="4726305"/>
          </a:xfrm>
        </p:spPr>
        <p:txBody>
          <a:bodyPr/>
          <a:p>
            <a:r>
              <a:rPr lang="en-US" altLang="en-US" sz="2000" b="1"/>
              <a:t>Dataset Size </a:t>
            </a:r>
            <a:r>
              <a:rPr lang="en-US" altLang="en-US" sz="2000"/>
              <a:t>- </a:t>
            </a:r>
            <a:r>
              <a:rPr lang="en-US" altLang="en-US" sz="2000" b="1"/>
              <a:t>Total Records:</a:t>
            </a:r>
            <a:r>
              <a:rPr lang="en-US" altLang="en-US" sz="2000"/>
              <a:t> 45,502  </a:t>
            </a:r>
            <a:r>
              <a:rPr lang="en-US" altLang="en-US" sz="2000" b="1"/>
              <a:t>Total Features:</a:t>
            </a:r>
            <a:r>
              <a:rPr lang="en-US" altLang="en-US" sz="2000"/>
              <a:t> 26</a:t>
            </a:r>
            <a:endParaRPr lang="en-US" altLang="en-US" sz="2000"/>
          </a:p>
          <a:p>
            <a:r>
              <a:rPr lang="en-US" altLang="en-US" sz="2000" b="1"/>
              <a:t>Target Variable:-</a:t>
            </a:r>
            <a:r>
              <a:rPr lang="en-US" altLang="en-US" sz="2000"/>
              <a:t> (time_taken) Actual delivery time (in minutes)</a:t>
            </a:r>
            <a:endParaRPr lang="en-US" altLang="en-US" sz="2000"/>
          </a:p>
          <a:p>
            <a:r>
              <a:rPr lang="en-US" altLang="en-US" sz="2000" b="1"/>
              <a:t>Feature Categories</a:t>
            </a:r>
            <a:endParaRPr lang="en-US" altLang="en-US" sz="2000" b="1"/>
          </a:p>
          <a:p>
            <a:r>
              <a:rPr lang="en-US" altLang="en-US" sz="2000" b="1"/>
              <a:t>Rider Information:-</a:t>
            </a:r>
            <a:r>
              <a:rPr lang="en-US" altLang="en-US" sz="2000"/>
              <a:t> rider_id,age,ratings</a:t>
            </a:r>
            <a:endParaRPr lang="en-US" altLang="en-US" sz="2000"/>
          </a:p>
          <a:p>
            <a:r>
              <a:rPr lang="en-US" altLang="en-US" sz="2000" b="1"/>
              <a:t>Restaurant &amp; Delivery Location:- </a:t>
            </a:r>
            <a:r>
              <a:rPr lang="en-US" altLang="en-US" sz="2000"/>
              <a:t>restaurant_latitude,restaurant_longitude,delivery_latitude,delivery_longitude,distance</a:t>
            </a:r>
            <a:endParaRPr lang="en-US" altLang="en-US" sz="2000"/>
          </a:p>
          <a:p>
            <a:r>
              <a:rPr lang="en-US" altLang="en-US" sz="2000" b="1"/>
              <a:t>Order Information:-</a:t>
            </a:r>
            <a:r>
              <a:rPr lang="en-US" altLang="en-US" sz="2000"/>
              <a:t> order_date,type_of_order,multiple_deliveries</a:t>
            </a:r>
            <a:endParaRPr lang="en-US" altLang="en-US" sz="2000"/>
          </a:p>
          <a:p>
            <a:r>
              <a:rPr lang="en-US" altLang="en-US" sz="2000" b="1"/>
              <a:t>Environmental Factors:-</a:t>
            </a:r>
            <a:r>
              <a:rPr lang="en-US" altLang="en-US" sz="2000"/>
              <a:t> weather,traffic,festival</a:t>
            </a:r>
            <a:endParaRPr lang="en-US" altLang="en-US" sz="2000"/>
          </a:p>
          <a:p>
            <a:r>
              <a:rPr lang="en-US" altLang="en-US" sz="2000" b="1"/>
              <a:t>Vehicle Information:- </a:t>
            </a:r>
            <a:r>
              <a:rPr lang="en-US" altLang="en-US" sz="2000"/>
              <a:t>vehicle_condition,type_of_vehicle</a:t>
            </a:r>
            <a:endParaRPr lang="en-US" altLang="en-US" sz="2000"/>
          </a:p>
          <a:p>
            <a:r>
              <a:rPr lang="en-US" altLang="en-US" sz="2000" b="1"/>
              <a:t>Location Information:- </a:t>
            </a:r>
            <a:r>
              <a:rPr lang="en-US" altLang="en-US" sz="2000"/>
              <a:t>city_type,city_name</a:t>
            </a:r>
            <a:endParaRPr lang="en-US" altLang="en-US" sz="2000"/>
          </a:p>
          <a:p>
            <a:r>
              <a:rPr lang="en-US" altLang="en-US" sz="2000" b="1"/>
              <a:t>Time-Based Features:-</a:t>
            </a:r>
            <a:r>
              <a:rPr lang="en-US" altLang="en-US" sz="2000"/>
              <a:t> order_day,order_month,order_day_of_week,is_weekend,</a:t>
            </a:r>
            <a:endParaRPr lang="en-US" altLang="en-US" sz="2000"/>
          </a:p>
          <a:p>
            <a:pPr marL="0" indent="0">
              <a:buNone/>
            </a:pPr>
            <a:r>
              <a:rPr lang="en-US" altLang="en-US" sz="2000"/>
              <a:t>     pickup_time_minutes,order_time_hour,order_time_of_day</a:t>
            </a:r>
            <a:endParaRPr lang="en-US" alt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1130300" y="274955"/>
            <a:ext cx="9944735" cy="941070"/>
          </a:xfrm>
        </p:spPr>
        <p:txBody>
          <a:bodyPr/>
          <a:p>
            <a:r>
              <a:rPr lang="en-US" altLang="en-US" sz="4000" b="1">
                <a:solidFill>
                  <a:srgbClr val="FF0000"/>
                </a:solidFill>
              </a:rPr>
              <a:t>Data Pre-processing</a:t>
            </a:r>
            <a:endParaRPr lang="en-US" altLang="en-US" sz="4000" b="1">
              <a:solidFill>
                <a:srgbClr val="FF0000"/>
              </a:solidFill>
            </a:endParaRPr>
          </a:p>
        </p:txBody>
      </p:sp>
      <p:sp>
        <p:nvSpPr>
          <p:cNvPr id="7" name="Content Placeholder 6"/>
          <p:cNvSpPr>
            <a:spLocks noGrp="1"/>
          </p:cNvSpPr>
          <p:nvPr>
            <p:ph sz="half" idx="1"/>
          </p:nvPr>
        </p:nvSpPr>
        <p:spPr>
          <a:xfrm>
            <a:off x="1008380" y="1167765"/>
            <a:ext cx="10204450" cy="4788535"/>
          </a:xfrm>
        </p:spPr>
        <p:txBody>
          <a:bodyPr/>
          <a:p>
            <a:pPr marL="0" indent="0">
              <a:lnSpc>
                <a:spcPct val="120000"/>
              </a:lnSpc>
              <a:buNone/>
            </a:pPr>
            <a:r>
              <a:rPr lang="en-US" altLang="en-US" sz="2000" b="1"/>
              <a:t>Removed unnecessary columns:</a:t>
            </a:r>
            <a:endParaRPr lang="en-US" altLang="en-US" sz="2000" b="1"/>
          </a:p>
          <a:p>
            <a:pPr marL="0" indent="0">
              <a:lnSpc>
                <a:spcPct val="120000"/>
              </a:lnSpc>
              <a:buNone/>
            </a:pPr>
            <a:r>
              <a:rPr lang="en-US" altLang="en-US" sz="2000"/>
              <a:t>     rider_id,order_date,restaurant_latitude,restaurant_longitude,delivery_latitude,</a:t>
            </a:r>
            <a:endParaRPr lang="en-US" altLang="en-US" sz="2000"/>
          </a:p>
          <a:p>
            <a:pPr marL="0" indent="0">
              <a:lnSpc>
                <a:spcPct val="120000"/>
              </a:lnSpc>
              <a:buNone/>
            </a:pPr>
            <a:r>
              <a:rPr lang="en-US" altLang="en-US" sz="2000"/>
              <a:t>     delivery_longitude</a:t>
            </a:r>
            <a:endParaRPr lang="en-US" altLang="en-US" sz="2000"/>
          </a:p>
          <a:p>
            <a:pPr>
              <a:lnSpc>
                <a:spcPct val="120000"/>
              </a:lnSpc>
            </a:pPr>
            <a:r>
              <a:rPr lang="en-US" altLang="en-US" sz="2000"/>
              <a:t>Separated features (X) and target variable (time_taken).</a:t>
            </a:r>
            <a:endParaRPr lang="en-US" altLang="en-US" sz="2000"/>
          </a:p>
          <a:p>
            <a:pPr>
              <a:lnSpc>
                <a:spcPct val="120000"/>
              </a:lnSpc>
            </a:pPr>
            <a:r>
              <a:rPr lang="en-US" altLang="en-US" sz="2000" b="1"/>
              <a:t>Handled missing values:</a:t>
            </a:r>
            <a:endParaRPr lang="en-US" altLang="en-US" sz="2000" b="1"/>
          </a:p>
          <a:p>
            <a:pPr marL="0" indent="0">
              <a:lnSpc>
                <a:spcPct val="120000"/>
              </a:lnSpc>
              <a:buNone/>
            </a:pPr>
            <a:r>
              <a:rPr lang="en-US" altLang="en-US" sz="2000"/>
              <a:t>     Numerical features → Median Imputation</a:t>
            </a:r>
            <a:endParaRPr lang="en-US" altLang="en-US" sz="2000"/>
          </a:p>
          <a:p>
            <a:pPr marL="0" indent="0">
              <a:lnSpc>
                <a:spcPct val="120000"/>
              </a:lnSpc>
              <a:buNone/>
            </a:pPr>
            <a:r>
              <a:rPr lang="en-US" altLang="en-US" sz="2000"/>
              <a:t>     Categorical features → Most Frequent (Mode) Imputation</a:t>
            </a:r>
            <a:endParaRPr lang="en-US" altLang="en-US" sz="2000"/>
          </a:p>
          <a:p>
            <a:pPr>
              <a:lnSpc>
                <a:spcPct val="120000"/>
              </a:lnSpc>
            </a:pPr>
            <a:r>
              <a:rPr lang="en-US" altLang="en-US" sz="2000" b="1"/>
              <a:t>Encoded categorical variables:</a:t>
            </a:r>
            <a:endParaRPr lang="en-US" altLang="en-US" sz="2000" b="1"/>
          </a:p>
          <a:p>
            <a:pPr marL="0" indent="0">
              <a:lnSpc>
                <a:spcPct val="120000"/>
              </a:lnSpc>
              <a:buNone/>
            </a:pPr>
            <a:r>
              <a:rPr lang="en-US" altLang="en-US" sz="2000"/>
              <a:t>     One-Hot Encoding for nominal features</a:t>
            </a:r>
            <a:endParaRPr lang="en-US" altLang="en-US" sz="2000"/>
          </a:p>
          <a:p>
            <a:pPr marL="0" indent="0">
              <a:lnSpc>
                <a:spcPct val="120000"/>
              </a:lnSpc>
              <a:buNone/>
            </a:pPr>
            <a:r>
              <a:rPr lang="en-US" altLang="en-US" sz="2000"/>
              <a:t>     Ordinal Encoding for ordered features (traffic, city_type)</a:t>
            </a:r>
            <a:endParaRPr lang="en-US" altLang="en-US" sz="2000"/>
          </a:p>
          <a:p>
            <a:pPr>
              <a:lnSpc>
                <a:spcPct val="120000"/>
              </a:lnSpc>
            </a:pPr>
            <a:r>
              <a:rPr lang="en-US" altLang="en-US" sz="2000"/>
              <a:t>Standardized numerical features using StandardScaler.</a:t>
            </a:r>
            <a:endParaRPr lang="en-US" altLang="en-US" sz="2000"/>
          </a:p>
          <a:p>
            <a:pPr>
              <a:lnSpc>
                <a:spcPct val="120000"/>
              </a:lnSpc>
            </a:pPr>
            <a:endParaRPr lang="en-US" altLang="en-US" sz="2000">
              <a:sym typeface="+mn-ea"/>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1040765" y="630555"/>
            <a:ext cx="10259695" cy="5596255"/>
          </a:xfrm>
        </p:spPr>
        <p:txBody>
          <a:bodyPr/>
          <a:p>
            <a:r>
              <a:rPr lang="en-US" altLang="en-US" sz="2000" b="1"/>
              <a:t>Numerical Features:-</a:t>
            </a:r>
            <a:r>
              <a:rPr lang="en-US" altLang="en-US" sz="2000"/>
              <a:t>age,ratings,vehicle_condition,multiple_deliveries,order_day,order_month</a:t>
            </a:r>
            <a:endParaRPr lang="en-US" altLang="en-US" sz="2000"/>
          </a:p>
          <a:p>
            <a:pPr marL="0" indent="0">
              <a:buNone/>
            </a:pPr>
            <a:r>
              <a:rPr lang="en-US" altLang="en-US" sz="2000"/>
              <a:t>     is_weekend,pickup_time_minutes,order_time_hour,distance</a:t>
            </a:r>
            <a:endParaRPr lang="en-US" altLang="en-US" sz="2000"/>
          </a:p>
          <a:p>
            <a:pPr>
              <a:buFont typeface="Arial" panose="020B0604020202020204" pitchFamily="34" charset="0"/>
              <a:buChar char="•"/>
            </a:pPr>
            <a:r>
              <a:rPr lang="en-US" altLang="en-US" sz="2000" b="1"/>
              <a:t>Ordinal Features:- </a:t>
            </a:r>
            <a:endParaRPr lang="en-US" altLang="en-US" sz="2000" b="1"/>
          </a:p>
          <a:p>
            <a:pPr marL="0" indent="0">
              <a:buFont typeface="Arial" panose="020B0604020202020204" pitchFamily="34" charset="0"/>
              <a:buNone/>
            </a:pPr>
            <a:r>
              <a:rPr lang="en-US" altLang="en-US" sz="2000"/>
              <a:t>     traffic,city_type</a:t>
            </a:r>
            <a:endParaRPr lang="en-US" altLang="en-US" sz="2000"/>
          </a:p>
          <a:p>
            <a:r>
              <a:rPr lang="en-US" altLang="en-US" sz="2000" b="1"/>
              <a:t>Nominal Features:-</a:t>
            </a:r>
            <a:endParaRPr lang="en-US" altLang="en-US" sz="2000" b="1"/>
          </a:p>
          <a:p>
            <a:pPr marL="0" indent="0">
              <a:buNone/>
            </a:pPr>
            <a:r>
              <a:rPr lang="en-US" altLang="en-US" sz="2000"/>
              <a:t>     weather,type_of_order,type_of_vehicle,festival,city_name,order_day_of_week,</a:t>
            </a:r>
            <a:endParaRPr lang="en-US" altLang="en-US" sz="2000"/>
          </a:p>
          <a:p>
            <a:pPr marL="0" indent="0">
              <a:buNone/>
            </a:pPr>
            <a:r>
              <a:rPr lang="en-US" altLang="en-US" sz="2000"/>
              <a:t>     order_time_of_day</a:t>
            </a:r>
            <a:endParaRPr lang="en-US" altLang="en-US" sz="2000"/>
          </a:p>
          <a:p>
            <a:r>
              <a:rPr lang="en-US" sz="2000" b="1" dirty="0">
                <a:latin typeface="Calibri" panose="020F0502020204030204" charset="0"/>
                <a:ea typeface="Calibri" panose="020F0502020204030204" charset="0"/>
                <a:cs typeface="Calibri" panose="020F0502020204030204" charset="0"/>
                <a:sym typeface="+mn-ea"/>
              </a:rPr>
              <a:t>Created separate pipelines for: </a:t>
            </a:r>
            <a:endParaRPr lang="en-US" sz="2000" b="1" dirty="0">
              <a:latin typeface="Calibri" panose="020F0502020204030204" charset="0"/>
              <a:ea typeface="Calibri" panose="020F0502020204030204" charset="0"/>
              <a:cs typeface="Calibri" panose="020F0502020204030204" charset="0"/>
            </a:endParaRPr>
          </a:p>
          <a:p>
            <a:pPr marL="0" indent="0">
              <a:buNone/>
            </a:pPr>
            <a:r>
              <a:rPr lang="en-US" sz="2000" dirty="0">
                <a:latin typeface="Calibri" panose="020F0502020204030204" charset="0"/>
                <a:ea typeface="Calibri" panose="020F0502020204030204" charset="0"/>
                <a:cs typeface="Calibri" panose="020F0502020204030204" charset="0"/>
                <a:sym typeface="+mn-ea"/>
              </a:rPr>
              <a:t>      Numerical features </a:t>
            </a:r>
            <a:endParaRPr lang="en-US" sz="2000" dirty="0">
              <a:latin typeface="Calibri" panose="020F0502020204030204" charset="0"/>
              <a:ea typeface="Calibri" panose="020F0502020204030204" charset="0"/>
              <a:cs typeface="Calibri" panose="020F0502020204030204" charset="0"/>
              <a:sym typeface="+mn-ea"/>
            </a:endParaRPr>
          </a:p>
          <a:p>
            <a:pPr marL="0" indent="0">
              <a:buNone/>
            </a:pPr>
            <a:r>
              <a:rPr lang="en-US" sz="2000" dirty="0">
                <a:latin typeface="Calibri" panose="020F0502020204030204" charset="0"/>
                <a:ea typeface="Calibri" panose="020F0502020204030204" charset="0"/>
                <a:cs typeface="Calibri" panose="020F0502020204030204" charset="0"/>
                <a:sym typeface="+mn-ea"/>
              </a:rPr>
              <a:t>      Nominal features </a:t>
            </a:r>
            <a:endParaRPr lang="en-US" sz="2000" dirty="0">
              <a:latin typeface="Calibri" panose="020F0502020204030204" charset="0"/>
              <a:ea typeface="Calibri" panose="020F0502020204030204" charset="0"/>
              <a:cs typeface="Calibri" panose="020F0502020204030204" charset="0"/>
              <a:sym typeface="+mn-ea"/>
            </a:endParaRPr>
          </a:p>
          <a:p>
            <a:pPr marL="0" indent="0">
              <a:buNone/>
            </a:pPr>
            <a:r>
              <a:rPr lang="en-US" sz="2000" dirty="0">
                <a:latin typeface="Calibri" panose="020F0502020204030204" charset="0"/>
                <a:ea typeface="Calibri" panose="020F0502020204030204" charset="0"/>
                <a:cs typeface="Calibri" panose="020F0502020204030204" charset="0"/>
                <a:sym typeface="+mn-ea"/>
              </a:rPr>
              <a:t>      Ordinal features </a:t>
            </a:r>
            <a:endParaRPr lang="en-US" sz="2000" dirty="0">
              <a:latin typeface="Calibri" panose="020F0502020204030204" charset="0"/>
              <a:ea typeface="Calibri" panose="020F0502020204030204" charset="0"/>
              <a:cs typeface="Calibri" panose="020F0502020204030204" charset="0"/>
              <a:sym typeface="+mn-ea"/>
            </a:endParaRPr>
          </a:p>
          <a:p>
            <a:r>
              <a:rPr lang="en-US" altLang="en-US" sz="2000"/>
              <a:t>Applied all transformations using ColumnTransformer and Pipeline for efficient</a:t>
            </a:r>
            <a:endParaRPr lang="en-US" altLang="en-US" sz="2000"/>
          </a:p>
          <a:p>
            <a:pPr marL="0" indent="0">
              <a:buNone/>
            </a:pPr>
            <a:r>
              <a:rPr lang="en-US" altLang="en-US" sz="2000"/>
              <a:t>     preprocessing.</a:t>
            </a:r>
            <a:endParaRPr lang="en-US" altLang="en-US" sz="2000"/>
          </a:p>
          <a:p>
            <a:r>
              <a:rPr lang="en-US" sz="2000" b="1" dirty="0">
                <a:latin typeface="Calibri" panose="020F0502020204030204" charset="0"/>
                <a:ea typeface="Calibri" panose="020F0502020204030204" charset="0"/>
                <a:cs typeface="Calibri" panose="020F0502020204030204" charset="0"/>
                <a:sym typeface="+mn-ea"/>
              </a:rPr>
              <a:t>Train-Test Split:- </a:t>
            </a:r>
            <a:r>
              <a:rPr lang="en-US" sz="2000" dirty="0">
                <a:latin typeface="Calibri" panose="020F0502020204030204" charset="0"/>
                <a:ea typeface="Calibri" panose="020F0502020204030204" charset="0"/>
                <a:cs typeface="Calibri" panose="020F0502020204030204" charset="0"/>
                <a:sym typeface="+mn-ea"/>
              </a:rPr>
              <a:t>80% Training Data</a:t>
            </a:r>
            <a:r>
              <a:rPr lang="en-US" sz="2000" dirty="0">
                <a:latin typeface="Calibri" panose="020F0502020204030204" charset="0"/>
                <a:ea typeface="Calibri" panose="020F0502020204030204" charset="0"/>
                <a:cs typeface="Calibri" panose="020F0502020204030204" charset="0"/>
                <a:sym typeface="+mn-ea"/>
              </a:rPr>
              <a:t> ,20% Testing Data </a:t>
            </a:r>
            <a:endParaRPr lang="en-US" sz="2000" dirty="0">
              <a:latin typeface="Calibri" panose="020F0502020204030204" charset="0"/>
              <a:ea typeface="Calibri" panose="020F0502020204030204" charset="0"/>
              <a:cs typeface="Calibri" panose="020F0502020204030204" charset="0"/>
            </a:endParaRPr>
          </a:p>
          <a:p>
            <a:pPr marL="0" indent="0">
              <a:buNone/>
            </a:pPr>
            <a:endParaRPr lang="en-US" altLang="en-US" sz="2000" b="1"/>
          </a:p>
          <a:p>
            <a:pPr marL="0" indent="0">
              <a:buNone/>
            </a:pPr>
            <a:endParaRPr lang="en-US" altLang="en-US" sz="2000" b="1"/>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
        <p:nvSpPr>
          <p:cNvPr id="2" name="Content Placeholder 1"/>
          <p:cNvSpPr/>
          <p:nvPr>
            <p:ph idx="1"/>
          </p:nvPr>
        </p:nvSpPr>
        <p:spPr>
          <a:xfrm>
            <a:off x="974725" y="1513840"/>
            <a:ext cx="10110470" cy="4612640"/>
          </a:xfrm>
        </p:spPr>
        <p:txBody>
          <a:bodyPr/>
          <a:p>
            <a:pPr marL="0" indent="0" algn="just">
              <a:buNone/>
            </a:pPr>
            <a:endParaRPr lang="en-US" altLang="en-US" sz="1800"/>
          </a:p>
          <a:p>
            <a:pPr algn="just"/>
            <a:endParaRPr lang="en-US" altLang="en-US" sz="1800"/>
          </a:p>
        </p:txBody>
      </p:sp>
      <p:sp>
        <p:nvSpPr>
          <p:cNvPr id="6" name="Text Box 5"/>
          <p:cNvSpPr txBox="1"/>
          <p:nvPr/>
        </p:nvSpPr>
        <p:spPr>
          <a:xfrm>
            <a:off x="974725" y="459740"/>
            <a:ext cx="10175875" cy="643890"/>
          </a:xfrm>
          <a:prstGeom prst="rect">
            <a:avLst/>
          </a:prstGeom>
          <a:noFill/>
        </p:spPr>
        <p:txBody>
          <a:bodyPr wrap="square" rtlCol="0">
            <a:noAutofit/>
          </a:bodyPr>
          <a:p>
            <a:pPr algn="ctr"/>
            <a:r>
              <a:rPr lang="en-US" altLang="en-US" sz="4400" b="1">
                <a:solidFill>
                  <a:srgbClr val="FF0000"/>
                </a:solidFill>
              </a:rPr>
              <a:t>Model Building</a:t>
            </a:r>
            <a:endParaRPr lang="en-US" altLang="en-US" sz="4400" b="1">
              <a:solidFill>
                <a:srgbClr val="FF0000"/>
              </a:solidFill>
            </a:endParaRPr>
          </a:p>
        </p:txBody>
      </p:sp>
      <p:sp>
        <p:nvSpPr>
          <p:cNvPr id="3" name="Text Box 2"/>
          <p:cNvSpPr txBox="1"/>
          <p:nvPr/>
        </p:nvSpPr>
        <p:spPr>
          <a:xfrm>
            <a:off x="991235" y="1214755"/>
            <a:ext cx="10093960" cy="4817110"/>
          </a:xfrm>
          <a:prstGeom prst="rect">
            <a:avLst/>
          </a:prstGeom>
          <a:noFill/>
        </p:spPr>
        <p:txBody>
          <a:bodyPr wrap="square" rtlCol="0">
            <a:noAutofit/>
          </a:bodyPr>
          <a:p>
            <a:endParaRPr lang="en-US"/>
          </a:p>
        </p:txBody>
      </p:sp>
      <p:sp>
        <p:nvSpPr>
          <p:cNvPr id="7" name="Text Box 6"/>
          <p:cNvSpPr txBox="1"/>
          <p:nvPr/>
        </p:nvSpPr>
        <p:spPr>
          <a:xfrm>
            <a:off x="877570" y="1214120"/>
            <a:ext cx="10334625" cy="4944745"/>
          </a:xfrm>
          <a:prstGeom prst="rect">
            <a:avLst/>
          </a:prstGeom>
          <a:noFill/>
        </p:spPr>
        <p:txBody>
          <a:bodyPr wrap="square" rtlCol="0">
            <a:noAutofit/>
          </a:bodyPr>
          <a:p>
            <a:pPr marL="0" marR="0" lvl="0" indent="0" algn="just" defTabSz="914400" rtl="0" eaLnBrk="0" fontAlgn="base" latinLnBrk="0" hangingPunct="0">
              <a:lnSpc>
                <a:spcPct val="150000"/>
              </a:lnSpc>
              <a:spcBef>
                <a:spcPct val="0"/>
              </a:spcBef>
              <a:spcAft>
                <a:spcPct val="0"/>
              </a:spcAft>
              <a:buClrTx/>
              <a:buSzTx/>
            </a:pPr>
            <a:r>
              <a:rPr lang="en-US" altLang="en-US" sz="2000"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The problem is treated as a </a:t>
            </a:r>
            <a:r>
              <a:rPr lang="en-US" altLang="en-US" sz="2000" b="1"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Regression task</a:t>
            </a:r>
            <a:r>
              <a:rPr lang="en-US" altLang="en-US" sz="2000"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 since the target variable is delivery time (in minutes), which is continuous.</a:t>
            </a:r>
            <a:endPar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charset="0"/>
              <a:cs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pPr>
            <a:r>
              <a:rPr lang="en-US" altLang="en-US" sz="2000"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Multiple Machine Learning models were trained and compared to identify the best-performing algorithm:</a:t>
            </a:r>
            <a:endPar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charset="0"/>
              <a:cs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sz="1900" b="1"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Linear Regression</a:t>
            </a:r>
            <a:r>
              <a:rPr lang="en-US" altLang="en-US" sz="1900"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 </a:t>
            </a:r>
            <a:endParaRPr kumimoji="0" lang="en-US" altLang="en-US" sz="1900" b="0" i="0" u="none" strike="noStrike" cap="none" normalizeH="0" baseline="0" dirty="0">
              <a:ln>
                <a:noFill/>
              </a:ln>
              <a:solidFill>
                <a:schemeClr val="tx1"/>
              </a:solidFill>
              <a:effectLst/>
              <a:latin typeface="Arial" panose="020B0604020202020204" pitchFamily="34" charset="0"/>
              <a:ea typeface="Calibri" panose="020F0502020204030204" charset="0"/>
              <a:cs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sz="1900" b="1"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K-Nearest Neighbors (KNN) Regressor</a:t>
            </a:r>
            <a:endParaRPr kumimoji="0" lang="en-US" altLang="en-US" sz="1900" b="1" i="0" u="none" strike="noStrike" cap="none" normalizeH="0" baseline="0" dirty="0">
              <a:ln>
                <a:noFill/>
              </a:ln>
              <a:solidFill>
                <a:schemeClr val="tx1"/>
              </a:solidFill>
              <a:effectLst/>
              <a:latin typeface="Arial" panose="020B0604020202020204" pitchFamily="34" charset="0"/>
              <a:ea typeface="Calibri" panose="020F0502020204030204" charset="0"/>
              <a:cs typeface="Arial" panose="020B0604020202020204" pitchFamily="34" charset="0"/>
            </a:endParaRPr>
          </a:p>
          <a:p>
            <a:pPr marL="342900" indent="-342900" algn="just" eaLnBrk="0" fontAlgn="base" hangingPunct="0">
              <a:lnSpc>
                <a:spcPct val="150000"/>
              </a:lnSpc>
              <a:spcBef>
                <a:spcPct val="0"/>
              </a:spcBef>
              <a:spcAft>
                <a:spcPct val="0"/>
              </a:spcAft>
              <a:buClrTx/>
              <a:buFont typeface="Wingdings" panose="05000000000000000000" pitchFamily="2" charset="2"/>
              <a:buChar char="§"/>
            </a:pPr>
            <a:r>
              <a:rPr lang="en-US" altLang="en-US" sz="1900" b="1" dirty="0">
                <a:solidFill>
                  <a:schemeClr val="tx1"/>
                </a:solidFill>
                <a:latin typeface="Arial" panose="020B0604020202020204" pitchFamily="34" charset="0"/>
                <a:ea typeface="Calibri" panose="020F0502020204030204" charset="0"/>
                <a:cs typeface="Arial" panose="020B0604020202020204" pitchFamily="34" charset="0"/>
                <a:sym typeface="+mn-ea"/>
              </a:rPr>
              <a:t>Support Vector Regressor (SVR)</a:t>
            </a:r>
            <a:endParaRPr lang="en-US" altLang="en-US" sz="1900" dirty="0">
              <a:solidFill>
                <a:schemeClr val="tx1"/>
              </a:solidFill>
              <a:latin typeface="Arial" panose="020B0604020202020204" pitchFamily="34" charset="0"/>
              <a:ea typeface="Calibri" panose="020F0502020204030204" charset="0"/>
              <a:cs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sz="1900" b="1"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Decision Tree Regressor</a:t>
            </a:r>
            <a:r>
              <a:rPr lang="en-US" altLang="en-US" sz="1900"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 </a:t>
            </a:r>
            <a:endParaRPr kumimoji="0" lang="en-US" altLang="en-US" sz="1900" b="0" i="0" u="none" strike="noStrike" cap="none" normalizeH="0" baseline="0" dirty="0">
              <a:ln>
                <a:noFill/>
              </a:ln>
              <a:solidFill>
                <a:schemeClr val="tx1"/>
              </a:solidFill>
              <a:effectLst/>
              <a:latin typeface="Arial" panose="020B0604020202020204" pitchFamily="34" charset="0"/>
              <a:ea typeface="Calibri" panose="020F0502020204030204" charset="0"/>
              <a:cs typeface="Arial" panose="020B0604020202020204" pitchFamily="34" charset="0"/>
            </a:endParaRPr>
          </a:p>
          <a:p>
            <a:pPr marL="342900" indent="-342900" algn="just" eaLnBrk="0" fontAlgn="base" hangingPunct="0">
              <a:lnSpc>
                <a:spcPct val="150000"/>
              </a:lnSpc>
              <a:spcBef>
                <a:spcPct val="0"/>
              </a:spcBef>
              <a:spcAft>
                <a:spcPct val="0"/>
              </a:spcAft>
              <a:buClrTx/>
              <a:buFont typeface="Wingdings" panose="05000000000000000000" pitchFamily="2" charset="2"/>
              <a:buChar char="§"/>
            </a:pPr>
            <a:r>
              <a:rPr lang="en-US" altLang="en-US" sz="1900" b="1" dirty="0">
                <a:solidFill>
                  <a:schemeClr val="tx1"/>
                </a:solidFill>
                <a:latin typeface="Arial" panose="020B0604020202020204" pitchFamily="34" charset="0"/>
                <a:ea typeface="Calibri" panose="020F0502020204030204" charset="0"/>
                <a:cs typeface="Arial" panose="020B0604020202020204" pitchFamily="34" charset="0"/>
                <a:sym typeface="+mn-ea"/>
              </a:rPr>
              <a:t>Random Forest Regressor</a:t>
            </a:r>
            <a:endParaRPr kumimoji="0" lang="en-US" altLang="en-US" sz="1900" b="1" i="0" u="none" strike="noStrike" cap="none" normalizeH="0" baseline="0" dirty="0">
              <a:ln>
                <a:noFill/>
              </a:ln>
              <a:solidFill>
                <a:schemeClr val="tx1"/>
              </a:solidFill>
              <a:effectLst/>
              <a:latin typeface="Arial" panose="020B0604020202020204" pitchFamily="34" charset="0"/>
              <a:ea typeface="Calibri" panose="020F0502020204030204" charset="0"/>
              <a:cs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sz="1900" b="1" dirty="0">
                <a:ln>
                  <a:noFill/>
                </a:ln>
                <a:solidFill>
                  <a:schemeClr val="tx1"/>
                </a:solidFill>
                <a:effectLst/>
                <a:latin typeface="Arial" panose="020B0604020202020204" pitchFamily="34" charset="0"/>
                <a:ea typeface="Calibri" panose="020F0502020204030204" charset="0"/>
                <a:cs typeface="Arial" panose="020B0604020202020204" pitchFamily="34" charset="0"/>
                <a:sym typeface="+mn-ea"/>
              </a:rPr>
              <a:t>XG Boost Regressor</a:t>
            </a:r>
            <a:endParaRPr kumimoji="0" lang="en-US" altLang="en-US" sz="1900" b="0" i="0" u="none" strike="noStrike" cap="none" normalizeH="0" baseline="0" dirty="0">
              <a:ln>
                <a:noFill/>
              </a:ln>
              <a:solidFill>
                <a:schemeClr val="tx1"/>
              </a:solidFill>
              <a:effectLst/>
              <a:latin typeface="Arial" panose="020B0604020202020204" pitchFamily="34" charset="0"/>
              <a:ea typeface="Calibri" panose="020F0502020204030204" charset="0"/>
              <a:cs typeface="Arial" panose="020B0604020202020204" pitchFamily="34" charset="0"/>
            </a:endParaRPr>
          </a:p>
          <a:p>
            <a:pPr eaLnBrk="0" fontAlgn="base" hangingPunct="0">
              <a:spcBef>
                <a:spcPct val="0"/>
              </a:spcBef>
              <a:spcAft>
                <a:spcPct val="0"/>
              </a:spcAft>
              <a:buClrTx/>
            </a:pPr>
            <a:r>
              <a:rPr lang="en-IN" sz="2000" dirty="0">
                <a:latin typeface="Calibri" panose="020F0502020204030204" charset="0"/>
                <a:ea typeface="Calibri" panose="020F0502020204030204" charset="0"/>
                <a:cs typeface="Calibri" panose="020F0502020204030204" charset="0"/>
                <a:sym typeface="+mn-ea"/>
              </a:rPr>
              <a:t>Each model was trained using a </a:t>
            </a:r>
            <a:r>
              <a:rPr lang="en-IN" sz="2000" b="1" dirty="0">
                <a:latin typeface="Calibri" panose="020F0502020204030204" charset="0"/>
                <a:ea typeface="Calibri" panose="020F0502020204030204" charset="0"/>
                <a:cs typeface="Calibri" panose="020F0502020204030204" charset="0"/>
                <a:sym typeface="+mn-ea"/>
              </a:rPr>
              <a:t>pipeline (preprocessing + algorithm)</a:t>
            </a:r>
            <a:r>
              <a:rPr lang="en-IN" sz="2000" dirty="0">
                <a:latin typeface="Calibri" panose="020F0502020204030204" charset="0"/>
                <a:ea typeface="Calibri" panose="020F0502020204030204" charset="0"/>
                <a:cs typeface="Calibri" panose="020F0502020204030204" charset="0"/>
                <a:sym typeface="+mn-ea"/>
              </a:rPr>
              <a:t>.</a:t>
            </a:r>
            <a:endParaRPr lang="en-IN" sz="2000" dirty="0">
              <a:latin typeface="Calibri" panose="020F0502020204030204" charset="0"/>
              <a:ea typeface="Calibri" panose="020F0502020204030204" charset="0"/>
              <a:cs typeface="Calibri" panose="020F0502020204030204" charset="0"/>
            </a:endParaRPr>
          </a:p>
          <a:p>
            <a:pPr eaLnBrk="0" fontAlgn="base" hangingPunct="0">
              <a:spcBef>
                <a:spcPct val="0"/>
              </a:spcBef>
              <a:spcAft>
                <a:spcPct val="0"/>
              </a:spcAft>
              <a:buClrTx/>
            </a:pPr>
            <a:endParaRPr lang="en-US" sz="200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609600" y="274955"/>
            <a:ext cx="10769600" cy="840105"/>
          </a:xfrm>
        </p:spPr>
        <p:txBody>
          <a:bodyPr/>
          <a:p>
            <a:r>
              <a:rPr lang="en-US" sz="4000" b="1">
                <a:solidFill>
                  <a:srgbClr val="FF0000"/>
                </a:solidFill>
              </a:rPr>
              <a:t>Model Evaluation and Model Selection</a:t>
            </a:r>
            <a:endParaRPr lang="en-US" sz="4000" b="1">
              <a:solidFill>
                <a:srgbClr val="FF0000"/>
              </a:solidFill>
            </a:endParaRPr>
          </a:p>
        </p:txBody>
      </p:sp>
      <p:sp>
        <p:nvSpPr>
          <p:cNvPr id="7" name="Text Placeholder 6"/>
          <p:cNvSpPr>
            <a:spLocks noGrp="1"/>
          </p:cNvSpPr>
          <p:nvPr>
            <p:ph type="body" idx="1"/>
          </p:nvPr>
        </p:nvSpPr>
        <p:spPr>
          <a:xfrm>
            <a:off x="951865" y="1115695"/>
            <a:ext cx="10630535" cy="5010785"/>
          </a:xfrm>
        </p:spPr>
        <p:txBody>
          <a:bodyPr/>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sz="2000"/>
              <a:t>from the above models XG Boost Regressor is best model having the best R2 score with low error.</a:t>
            </a:r>
            <a:endParaRPr 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graphicFrame>
        <p:nvGraphicFramePr>
          <p:cNvPr id="8" name="Table 7"/>
          <p:cNvGraphicFramePr>
            <a:graphicFrameLocks noGrp="1"/>
          </p:cNvGraphicFramePr>
          <p:nvPr>
            <p:custDataLst>
              <p:tags r:id="rId1"/>
            </p:custDataLst>
          </p:nvPr>
        </p:nvGraphicFramePr>
        <p:xfrm>
          <a:off x="1127760" y="1195705"/>
          <a:ext cx="8154670" cy="3986530"/>
        </p:xfrm>
        <a:graphic>
          <a:graphicData uri="http://schemas.openxmlformats.org/drawingml/2006/table">
            <a:tbl>
              <a:tblPr firstRow="1" bandRow="1">
                <a:tableStyleId>{5940675A-B579-460E-94D1-54222C63F5DA}</a:tableStyleId>
              </a:tblPr>
              <a:tblGrid>
                <a:gridCol w="2786380"/>
                <a:gridCol w="1078230"/>
                <a:gridCol w="1054100"/>
                <a:gridCol w="1227455"/>
                <a:gridCol w="2008505"/>
              </a:tblGrid>
              <a:tr h="745490">
                <a:tc>
                  <a:txBody>
                    <a:bodyPr/>
                    <a:lstStyle/>
                    <a:p>
                      <a:pPr algn="l"/>
                      <a:r>
                        <a:rPr lang="en-IN" sz="1900" b="1" dirty="0">
                          <a:latin typeface="Calibri" panose="020F0502020204030204" charset="0"/>
                          <a:ea typeface="Calibri" panose="020F0502020204030204" charset="0"/>
                          <a:cs typeface="Calibri" panose="020F0502020204030204" charset="0"/>
                        </a:rPr>
                        <a:t>Model</a:t>
                      </a:r>
                      <a:endParaRPr lang="en-IN"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p>
                      <a:pPr algn="l">
                        <a:buNone/>
                      </a:pPr>
                      <a:r>
                        <a:rPr lang="en-US" altLang="en-IN" sz="1900" b="1" dirty="0">
                          <a:latin typeface="Calibri" panose="020F0502020204030204" charset="0"/>
                          <a:ea typeface="Calibri" panose="020F0502020204030204" charset="0"/>
                          <a:cs typeface="Calibri" panose="020F0502020204030204" charset="0"/>
                        </a:rPr>
                        <a:t>MSE</a:t>
                      </a:r>
                      <a:endParaRPr lang="en-US" altLang="en-IN"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lstStyle/>
                    <a:p>
                      <a:pPr algn="l"/>
                      <a:r>
                        <a:rPr lang="en-IN" sz="1900" b="1" dirty="0">
                          <a:latin typeface="Calibri" panose="020F0502020204030204" charset="0"/>
                          <a:ea typeface="Calibri" panose="020F0502020204030204" charset="0"/>
                          <a:cs typeface="Calibri" panose="020F0502020204030204" charset="0"/>
                        </a:rPr>
                        <a:t>RMSE</a:t>
                      </a:r>
                      <a:endParaRPr lang="en-IN"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lstStyle/>
                    <a:p>
                      <a:pPr algn="l"/>
                      <a:r>
                        <a:rPr lang="en-IN" sz="1900" b="1" dirty="0">
                          <a:latin typeface="Calibri" panose="020F0502020204030204" charset="0"/>
                          <a:ea typeface="Calibri" panose="020F0502020204030204" charset="0"/>
                          <a:cs typeface="Calibri" panose="020F0502020204030204" charset="0"/>
                        </a:rPr>
                        <a:t>R2 Score</a:t>
                      </a:r>
                      <a:endParaRPr lang="en-IN"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p>
                      <a:pPr algn="l">
                        <a:buNone/>
                      </a:pPr>
                      <a:r>
                        <a:rPr lang="en-US" altLang="en-IN" sz="1900" b="1" dirty="0">
                          <a:latin typeface="Calibri" panose="020F0502020204030204" charset="0"/>
                          <a:ea typeface="Calibri" panose="020F0502020204030204" charset="0"/>
                          <a:cs typeface="Calibri" panose="020F0502020204030204" charset="0"/>
                        </a:rPr>
                        <a:t>Training &amp;</a:t>
                      </a:r>
                      <a:endParaRPr lang="en-US" altLang="en-IN" sz="1900" b="1" dirty="0">
                        <a:latin typeface="Calibri" panose="020F0502020204030204" charset="0"/>
                        <a:ea typeface="Calibri" panose="020F0502020204030204" charset="0"/>
                        <a:cs typeface="Calibri" panose="020F0502020204030204" charset="0"/>
                      </a:endParaRPr>
                    </a:p>
                    <a:p>
                      <a:pPr algn="l">
                        <a:buNone/>
                      </a:pPr>
                      <a:r>
                        <a:rPr lang="en-US" altLang="en-IN" sz="1900" b="1" dirty="0">
                          <a:latin typeface="Calibri" panose="020F0502020204030204" charset="0"/>
                          <a:ea typeface="Calibri" panose="020F0502020204030204" charset="0"/>
                          <a:cs typeface="Calibri" panose="020F0502020204030204" charset="0"/>
                        </a:rPr>
                        <a:t>Testing R2 score</a:t>
                      </a:r>
                      <a:endParaRPr lang="en-US" altLang="en-IN" sz="1900" b="1" dirty="0">
                        <a:latin typeface="Calibri" panose="020F0502020204030204" charset="0"/>
                        <a:ea typeface="Calibri" panose="020F0502020204030204" charset="0"/>
                        <a:cs typeface="Calibri" panose="020F0502020204030204" charset="0"/>
                      </a:endParaRPr>
                    </a:p>
                  </a:txBody>
                  <a:tcPr marL="121920" marR="121920" marT="60960" marB="60960"/>
                </a:tc>
              </a:tr>
              <a:tr h="5270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altLang="en-US" sz="1900" b="1"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rPr>
                        <a:t>Linear Regression </a:t>
                      </a:r>
                      <a:endPar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endParaRPr>
                    </a:p>
                  </a:txBody>
                  <a:tcPr marL="121920" marR="121920" marT="60960" marB="60960"/>
                </a:tc>
                <a:tc>
                  <a:txBody>
                    <a:bodyPr/>
                    <a:p>
                      <a:pPr marL="0" marR="0" lvl="0" indent="0" algn="l" defTabSz="914400" rtl="0" eaLnBrk="1" fontAlgn="auto" latinLnBrk="0" hangingPunct="1">
                        <a:lnSpc>
                          <a:spcPct val="140000"/>
                        </a:lnSpc>
                        <a:spcBef>
                          <a:spcPts val="0"/>
                        </a:spcBef>
                        <a:spcAft>
                          <a:spcPts val="0"/>
                        </a:spcAft>
                        <a:buClr>
                          <a:srgbClr val="000000"/>
                        </a:buClr>
                        <a:buSzTx/>
                        <a:buFont typeface="Arial" panose="020B0604020202020204"/>
                        <a:buNone/>
                        <a:defRPr/>
                      </a:pPr>
                      <a:r>
                        <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rPr>
                        <a:t>36.94</a:t>
                      </a:r>
                      <a:endPar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6.07</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nchor="ctr" anchorCtr="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0.58</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nchor="ctr" anchorCtr="0"/>
                </a:tc>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0.57,0.58</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nchor="ctr" anchorCtr="0"/>
                </a:tc>
              </a:tr>
              <a:tr h="556260">
                <a:tc>
                  <a:txBody>
                    <a:bodyPr/>
                    <a:lstStyle/>
                    <a:p>
                      <a:pPr marL="0" marR="0" lvl="0" indent="0" algn="l" defTabSz="914400" rtl="0" eaLnBrk="0" fontAlgn="base" latinLnBrk="0" hangingPunct="0">
                        <a:lnSpc>
                          <a:spcPct val="150000"/>
                        </a:lnSpc>
                        <a:spcBef>
                          <a:spcPct val="0"/>
                        </a:spcBef>
                        <a:spcAft>
                          <a:spcPct val="0"/>
                        </a:spcAft>
                        <a:buClrTx/>
                        <a:buSzTx/>
                        <a:buFont typeface="Courier New" panose="02070309020205020404" pitchFamily="49" charset="0"/>
                        <a:buNone/>
                      </a:pPr>
                      <a:r>
                        <a:rPr kumimoji="0" lang="en-US" altLang="en-US" sz="1900" b="1"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rPr>
                        <a:t>KNN </a:t>
                      </a:r>
                      <a:endParaRPr lang="en-IN"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p>
                      <a:pPr marL="0" marR="0" lvl="0" indent="0" algn="l" defTabSz="914400" rtl="0" eaLnBrk="0" fontAlgn="base" latinLnBrk="0" hangingPunct="0">
                        <a:lnSpc>
                          <a:spcPct val="140000"/>
                        </a:lnSpc>
                        <a:spcBef>
                          <a:spcPct val="0"/>
                        </a:spcBef>
                        <a:spcAft>
                          <a:spcPct val="0"/>
                        </a:spcAft>
                        <a:buClrTx/>
                        <a:buSzTx/>
                        <a:buFont typeface="Courier New" panose="02070309020205020404" pitchFamily="49" charset="0"/>
                        <a:buNone/>
                      </a:pPr>
                      <a:r>
                        <a:rPr lang="en-US" altLang="en-US" sz="1900" b="1" dirty="0">
                          <a:latin typeface="Calibri" panose="020F0502020204030204" charset="0"/>
                          <a:ea typeface="Calibri" panose="020F0502020204030204" charset="0"/>
                          <a:cs typeface="Calibri" panose="020F0502020204030204" charset="0"/>
                        </a:rPr>
                        <a:t>34.29</a:t>
                      </a:r>
                      <a:endParaRPr lang="en-US" altLang="en-US"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5.85</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nchor="ctr" anchorCtr="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0.61</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nchor="ctr" anchorCtr="0"/>
                </a:tc>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0.73,0.61</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nchor="ctr" anchorCtr="0"/>
                </a:tc>
              </a:tr>
              <a:tr h="68389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dirty="0">
                          <a:ln>
                            <a:noFill/>
                          </a:ln>
                          <a:effectLst/>
                          <a:latin typeface="Calibri" panose="020F0502020204030204" charset="0"/>
                          <a:ea typeface="Calibri" panose="020F0502020204030204" charset="0"/>
                          <a:cs typeface="Calibri" panose="020F0502020204030204" charset="0"/>
                          <a:sym typeface="+mn-ea"/>
                        </a:rPr>
                        <a:t>Decision Tree Regressor</a:t>
                      </a:r>
                      <a:endPar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endParaRPr>
                    </a:p>
                  </a:txBody>
                  <a:tcPr marL="121920" marR="121920" marT="60960" marB="60960"/>
                </a:tc>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rPr>
                        <a:t>31.80</a:t>
                      </a:r>
                      <a:endPar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5.63</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0.64</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tc>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1.00,0.64</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tc>
              </a:tr>
              <a:tr h="41148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rPr>
                        <a:t>SVR</a:t>
                      </a:r>
                      <a:endPar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endParaRPr>
                    </a:p>
                  </a:txBody>
                  <a:tcPr marL="121920" marR="121920" marT="60960" marB="60960"/>
                </a:tc>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rPr>
                        <a:t>25.88</a:t>
                      </a:r>
                      <a:endParaRPr kumimoji="0" lang="en-US" altLang="en-US" sz="1900" b="1" i="0"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5.08</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0.70</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tc>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0.71,0.70</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tc>
              </a:tr>
              <a:tr h="502920">
                <a:tc>
                  <a:txBody>
                    <a:bodyPr/>
                    <a:lstStyle/>
                    <a:p>
                      <a:pPr algn="l"/>
                      <a:r>
                        <a:rPr lang="en-IN" sz="1900" b="1" dirty="0">
                          <a:latin typeface="Calibri" panose="020F0502020204030204" charset="0"/>
                          <a:ea typeface="Calibri" panose="020F0502020204030204" charset="0"/>
                          <a:cs typeface="Calibri" panose="020F0502020204030204" charset="0"/>
                        </a:rPr>
                        <a:t>Random Forest</a:t>
                      </a:r>
                      <a:endParaRPr lang="en-IN"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p>
                      <a:pPr algn="l">
                        <a:buNone/>
                      </a:pPr>
                      <a:r>
                        <a:rPr lang="en-US" altLang="en-US" sz="1900" b="1" dirty="0">
                          <a:latin typeface="Calibri" panose="020F0502020204030204" charset="0"/>
                          <a:ea typeface="Calibri" panose="020F0502020204030204" charset="0"/>
                          <a:cs typeface="Calibri" panose="020F0502020204030204" charset="0"/>
                        </a:rPr>
                        <a:t>16.95</a:t>
                      </a:r>
                      <a:endParaRPr lang="en-US" altLang="en-US"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rPr>
                        <a:t>4.11</a:t>
                      </a:r>
                      <a:endParaRPr lang="en-US" altLang="en-US" sz="1900" b="1" i="0" u="none" strike="noStrike" cap="none" dirty="0">
                        <a:solidFill>
                          <a:srgbClr val="000000"/>
                        </a:solidFill>
                        <a:effectLst/>
                        <a:latin typeface="Calibri" panose="020F0502020204030204" charset="0"/>
                        <a:ea typeface="Calibri" panose="020F0502020204030204" charset="0"/>
                        <a:cs typeface="Calibri" panose="020F0502020204030204" charset="0"/>
                        <a:sym typeface="Arial" panose="020B0604020202020204"/>
                      </a:endParaRPr>
                    </a:p>
                  </a:txBody>
                  <a:tcPr marL="121920" marR="121920" marT="60960" marB="60960"/>
                </a:tc>
                <a:tc>
                  <a:txBody>
                    <a:bodyPr/>
                    <a:lstStyle/>
                    <a:p>
                      <a:pPr algn="l"/>
                      <a:r>
                        <a:rPr lang="en-US" altLang="en-US" sz="1900" b="1" dirty="0">
                          <a:latin typeface="Calibri" panose="020F0502020204030204" charset="0"/>
                          <a:ea typeface="Calibri" panose="020F0502020204030204" charset="0"/>
                          <a:cs typeface="Calibri" panose="020F0502020204030204" charset="0"/>
                        </a:rPr>
                        <a:t>0.80</a:t>
                      </a:r>
                      <a:endParaRPr lang="en-US" altLang="en-US" sz="1900" b="1" dirty="0">
                        <a:latin typeface="Calibri" panose="020F0502020204030204" charset="0"/>
                        <a:ea typeface="Calibri" panose="020F0502020204030204" charset="0"/>
                        <a:cs typeface="Calibri" panose="020F0502020204030204" charset="0"/>
                      </a:endParaRPr>
                    </a:p>
                  </a:txBody>
                  <a:tcPr marL="121920" marR="121920" marT="60960" marB="60960"/>
                </a:tc>
                <a:tc>
                  <a:txBody>
                    <a:bodyPr/>
                    <a:p>
                      <a:pPr algn="l">
                        <a:buNone/>
                      </a:pPr>
                      <a:r>
                        <a:rPr lang="en-US" altLang="en-US" sz="1900" b="1" dirty="0">
                          <a:latin typeface="Calibri" panose="020F0502020204030204" charset="0"/>
                          <a:ea typeface="Calibri" panose="020F0502020204030204" charset="0"/>
                          <a:cs typeface="Calibri" panose="020F0502020204030204" charset="0"/>
                        </a:rPr>
                        <a:t>0.97,0.80</a:t>
                      </a:r>
                      <a:endParaRPr lang="en-US" altLang="en-US" sz="1900" b="1" dirty="0">
                        <a:latin typeface="Calibri" panose="020F0502020204030204" charset="0"/>
                        <a:ea typeface="Calibri" panose="020F0502020204030204" charset="0"/>
                        <a:cs typeface="Calibri" panose="020F0502020204030204" charset="0"/>
                      </a:endParaRPr>
                    </a:p>
                  </a:txBody>
                  <a:tcPr marL="121920" marR="121920" marT="60960" marB="60960"/>
                </a:tc>
              </a:tr>
              <a:tr h="559435">
                <a:tc>
                  <a:txBody>
                    <a:bodyPr/>
                    <a:lstStyle/>
                    <a:p>
                      <a:pPr algn="l"/>
                      <a:r>
                        <a:rPr kumimoji="0" lang="en-US" altLang="en-US" sz="1900" b="1" u="none" strike="noStrike" cap="none" normalizeH="0" baseline="0" dirty="0">
                          <a:ln>
                            <a:noFill/>
                          </a:ln>
                          <a:solidFill>
                            <a:schemeClr val="tx1"/>
                          </a:solidFill>
                          <a:effectLst/>
                          <a:latin typeface="Calibri" panose="020F0502020204030204" charset="0"/>
                          <a:ea typeface="Calibri" panose="020F0502020204030204" charset="0"/>
                          <a:cs typeface="Calibri" panose="020F0502020204030204" charset="0"/>
                        </a:rPr>
                        <a:t>XG Boost Regressor</a:t>
                      </a:r>
                      <a:endParaRPr lang="en-IN" sz="1900" b="1" dirty="0">
                        <a:latin typeface="Calibri" panose="020F0502020204030204" charset="0"/>
                        <a:ea typeface="Calibri" panose="020F0502020204030204" charset="0"/>
                        <a:cs typeface="Calibri" panose="020F0502020204030204" charset="0"/>
                      </a:endParaRPr>
                    </a:p>
                  </a:txBody>
                  <a:tcPr/>
                </a:tc>
                <a:tc>
                  <a:txBody>
                    <a:bodyPr/>
                    <a:p>
                      <a:pPr algn="l">
                        <a:buNone/>
                      </a:pPr>
                      <a:r>
                        <a:rPr lang="en-US" altLang="en-US" sz="1900" b="1" dirty="0">
                          <a:latin typeface="Calibri" panose="020F0502020204030204" charset="0"/>
                          <a:ea typeface="Calibri" panose="020F0502020204030204" charset="0"/>
                          <a:cs typeface="Calibri" panose="020F0502020204030204" charset="0"/>
                        </a:rPr>
                        <a:t>16.64</a:t>
                      </a:r>
                      <a:endParaRPr lang="en-US" altLang="en-US" sz="1900" b="1" dirty="0">
                        <a:latin typeface="Calibri" panose="020F0502020204030204" charset="0"/>
                        <a:ea typeface="Calibri" panose="020F0502020204030204" charset="0"/>
                        <a:cs typeface="Calibri" panose="020F0502020204030204" charset="0"/>
                      </a:endParaRPr>
                    </a:p>
                  </a:txBody>
                  <a:tcPr/>
                </a:tc>
                <a:tc>
                  <a:txBody>
                    <a:bodyPr/>
                    <a:lstStyle/>
                    <a:p>
                      <a:pPr algn="l"/>
                      <a:r>
                        <a:rPr lang="en-US" altLang="en-US" sz="1900" b="1" dirty="0">
                          <a:latin typeface="Calibri" panose="020F0502020204030204" charset="0"/>
                          <a:ea typeface="Calibri" panose="020F0502020204030204" charset="0"/>
                          <a:cs typeface="Calibri" panose="020F0502020204030204" charset="0"/>
                        </a:rPr>
                        <a:t> 4.07</a:t>
                      </a:r>
                      <a:endParaRPr lang="en-US" altLang="en-US" sz="1900" b="1" dirty="0">
                        <a:latin typeface="Calibri" panose="020F0502020204030204" charset="0"/>
                        <a:ea typeface="Calibri" panose="020F0502020204030204" charset="0"/>
                        <a:cs typeface="Calibri" panose="020F0502020204030204" charset="0"/>
                      </a:endParaRPr>
                    </a:p>
                  </a:txBody>
                  <a:tcPr/>
                </a:tc>
                <a:tc>
                  <a:txBody>
                    <a:bodyPr/>
                    <a:lstStyle/>
                    <a:p>
                      <a:pPr algn="l"/>
                      <a:r>
                        <a:rPr lang="en-US" altLang="en-US" sz="1900" b="1" dirty="0">
                          <a:latin typeface="Calibri" panose="020F0502020204030204" charset="0"/>
                          <a:ea typeface="Calibri" panose="020F0502020204030204" charset="0"/>
                          <a:cs typeface="Calibri" panose="020F0502020204030204" charset="0"/>
                        </a:rPr>
                        <a:t>0.81</a:t>
                      </a:r>
                      <a:endParaRPr lang="en-US" altLang="en-US" sz="1900" b="1" dirty="0">
                        <a:latin typeface="Calibri" panose="020F0502020204030204" charset="0"/>
                        <a:ea typeface="Calibri" panose="020F0502020204030204" charset="0"/>
                        <a:cs typeface="Calibri" panose="020F0502020204030204" charset="0"/>
                      </a:endParaRPr>
                    </a:p>
                  </a:txBody>
                  <a:tcPr/>
                </a:tc>
                <a:tc>
                  <a:txBody>
                    <a:bodyPr/>
                    <a:p>
                      <a:pPr algn="l">
                        <a:buNone/>
                      </a:pPr>
                      <a:r>
                        <a:rPr lang="en-US" altLang="en-US" sz="1900" b="1" dirty="0">
                          <a:latin typeface="Calibri" panose="020F0502020204030204" charset="0"/>
                          <a:ea typeface="Calibri" panose="020F0502020204030204" charset="0"/>
                          <a:cs typeface="Calibri" panose="020F0502020204030204" charset="0"/>
                        </a:rPr>
                        <a:t>0.86,0.81</a:t>
                      </a:r>
                      <a:endParaRPr lang="en-US" altLang="en-US" sz="1900" b="1" dirty="0">
                        <a:latin typeface="Calibri" panose="020F0502020204030204" charset="0"/>
                        <a:ea typeface="Calibri" panose="020F0502020204030204" charset="0"/>
                        <a:cs typeface="Calibri" panose="020F0502020204030204" charset="0"/>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a:xfrm>
            <a:off x="882015" y="668020"/>
            <a:ext cx="10499090" cy="5577205"/>
          </a:xfrm>
        </p:spPr>
        <p:txBody>
          <a:bodyPr/>
          <a:p>
            <a:pPr algn="just">
              <a:lnSpc>
                <a:spcPct val="130000"/>
              </a:lnSpc>
              <a:buNone/>
            </a:pPr>
            <a:r>
              <a:rPr lang="en-US" sz="2000" b="1" dirty="0">
                <a:solidFill>
                  <a:srgbClr val="FF0000"/>
                </a:solidFill>
                <a:latin typeface="Arial" panose="020B0604020202020204" pitchFamily="34" charset="0"/>
                <a:ea typeface="Calibri" panose="020F0502020204030204" charset="0"/>
                <a:cs typeface="Arial" panose="020B0604020202020204" pitchFamily="34" charset="0"/>
                <a:sym typeface="+mn-ea"/>
              </a:rPr>
              <a:t>Cross validation</a:t>
            </a:r>
            <a:endParaRPr lang="en-US" sz="2000" b="1" dirty="0">
              <a:solidFill>
                <a:srgbClr val="FF0000"/>
              </a:solidFill>
              <a:latin typeface="Arial" panose="020B0604020202020204" pitchFamily="34" charset="0"/>
              <a:ea typeface="Calibri" panose="020F0502020204030204" charset="0"/>
              <a:cs typeface="Arial" panose="020B0604020202020204" pitchFamily="34" charset="0"/>
              <a:sym typeface="+mn-ea"/>
            </a:endParaRPr>
          </a:p>
          <a:p>
            <a:pPr algn="just">
              <a:lnSpc>
                <a:spcPct val="130000"/>
              </a:lnSpc>
              <a:buNone/>
            </a:pPr>
            <a:r>
              <a:rPr lang="en-US" sz="1800" b="1" dirty="0">
                <a:latin typeface="Arial" panose="020B0604020202020204" pitchFamily="34" charset="0"/>
                <a:ea typeface="Calibri" panose="020F0502020204030204" charset="0"/>
                <a:cs typeface="Arial" panose="020B0604020202020204" pitchFamily="34" charset="0"/>
                <a:sym typeface="+mn-ea"/>
              </a:rPr>
              <a:t>Method Used: K-Fold Cross Validation</a:t>
            </a:r>
            <a:endParaRPr lang="en-US" sz="1800" b="1" dirty="0">
              <a:latin typeface="Arial" panose="020B0604020202020204" pitchFamily="34" charset="0"/>
              <a:ea typeface="Calibri" panose="020F0502020204030204" charset="0"/>
              <a:cs typeface="Arial" panose="020B0604020202020204" pitchFamily="34" charset="0"/>
            </a:endParaRPr>
          </a:p>
          <a:p>
            <a:pPr marL="381000" indent="-381000" algn="just">
              <a:lnSpc>
                <a:spcPct val="130000"/>
              </a:lnSpc>
              <a:buFont typeface="Arial" panose="020B0604020202020204" pitchFamily="34" charset="0"/>
              <a:buChar char="•"/>
            </a:pPr>
            <a:r>
              <a:rPr lang="en-US" sz="1800" dirty="0">
                <a:latin typeface="Arial" panose="020B0604020202020204" pitchFamily="34" charset="0"/>
                <a:ea typeface="Calibri" panose="020F0502020204030204" charset="0"/>
                <a:cs typeface="Arial" panose="020B0604020202020204" pitchFamily="34" charset="0"/>
                <a:sym typeface="+mn-ea"/>
              </a:rPr>
              <a:t>Model : XG Boost</a:t>
            </a:r>
            <a:endParaRPr lang="en-US" sz="1800" dirty="0">
              <a:latin typeface="Arial" panose="020B0604020202020204" pitchFamily="34" charset="0"/>
              <a:ea typeface="Calibri" panose="020F0502020204030204" charset="0"/>
              <a:cs typeface="Arial" panose="020B0604020202020204" pitchFamily="34" charset="0"/>
            </a:endParaRPr>
          </a:p>
          <a:p>
            <a:pPr marL="381000" indent="-381000" algn="just">
              <a:lnSpc>
                <a:spcPct val="130000"/>
              </a:lnSpc>
              <a:buFont typeface="Arial" panose="020B0604020202020204" pitchFamily="34" charset="0"/>
              <a:buChar char="•"/>
            </a:pPr>
            <a:r>
              <a:rPr lang="en-US" sz="1800" dirty="0">
                <a:latin typeface="Arial" panose="020B0604020202020204" pitchFamily="34" charset="0"/>
                <a:ea typeface="Calibri" panose="020F0502020204030204" charset="0"/>
                <a:cs typeface="Arial" panose="020B0604020202020204" pitchFamily="34" charset="0"/>
                <a:sym typeface="+mn-ea"/>
              </a:rPr>
              <a:t>Dataset split into 5 equal folds</a:t>
            </a:r>
            <a:endParaRPr lang="en-US" sz="1800" dirty="0">
              <a:latin typeface="Arial" panose="020B0604020202020204" pitchFamily="34" charset="0"/>
              <a:ea typeface="Calibri" panose="020F0502020204030204" charset="0"/>
              <a:cs typeface="Arial" panose="020B0604020202020204" pitchFamily="34" charset="0"/>
            </a:endParaRPr>
          </a:p>
          <a:p>
            <a:pPr marL="381000" indent="-381000" algn="just">
              <a:lnSpc>
                <a:spcPct val="130000"/>
              </a:lnSpc>
              <a:buFont typeface="Arial" panose="020B0604020202020204" pitchFamily="34" charset="0"/>
              <a:buChar char="•"/>
            </a:pPr>
            <a:r>
              <a:rPr lang="en-US" sz="1800" dirty="0">
                <a:latin typeface="Arial" panose="020B0604020202020204" pitchFamily="34" charset="0"/>
                <a:ea typeface="Calibri" panose="020F0502020204030204" charset="0"/>
                <a:cs typeface="Arial" panose="020B0604020202020204" pitchFamily="34" charset="0"/>
                <a:sym typeface="+mn-ea"/>
              </a:rPr>
              <a:t>Evaluation Metric: R2 Score(</a:t>
            </a:r>
            <a:r>
              <a:rPr lang="en-US" altLang="en-US" sz="1800" dirty="0">
                <a:latin typeface="Arial" panose="020B0604020202020204" pitchFamily="34" charset="0"/>
                <a:ea typeface="Calibri" panose="020F0502020204030204" charset="0"/>
                <a:cs typeface="Arial" panose="020B0604020202020204" pitchFamily="34" charset="0"/>
              </a:rPr>
              <a:t>0.80)</a:t>
            </a:r>
            <a:endParaRPr lang="en-US" altLang="en-US" sz="1800" dirty="0">
              <a:latin typeface="Arial" panose="020B0604020202020204" pitchFamily="34" charset="0"/>
              <a:ea typeface="Calibri" panose="020F0502020204030204" charset="0"/>
              <a:cs typeface="Arial" panose="020B0604020202020204" pitchFamily="34" charset="0"/>
            </a:endParaRPr>
          </a:p>
          <a:p>
            <a:pPr marL="0" indent="0" algn="just">
              <a:lnSpc>
                <a:spcPct val="130000"/>
              </a:lnSpc>
              <a:buFont typeface="Arial" panose="020B0604020202020204" pitchFamily="34" charset="0"/>
              <a:buNone/>
            </a:pPr>
            <a:r>
              <a:rPr lang="en-US" sz="2000" b="1">
                <a:solidFill>
                  <a:srgbClr val="FF0000"/>
                </a:solidFill>
                <a:latin typeface="Arial" panose="020B0604020202020204" pitchFamily="34" charset="0"/>
                <a:cs typeface="Arial" panose="020B0604020202020204" pitchFamily="34" charset="0"/>
              </a:rPr>
              <a:t>Hyperparameters Tuning</a:t>
            </a:r>
            <a:endParaRPr lang="en-US" sz="2000" b="1">
              <a:solidFill>
                <a:srgbClr val="FF0000"/>
              </a:solidFill>
              <a:latin typeface="Arial" panose="020B0604020202020204" pitchFamily="34" charset="0"/>
              <a:cs typeface="Arial" panose="020B0604020202020204" pitchFamily="34" charset="0"/>
            </a:endParaRPr>
          </a:p>
          <a:p>
            <a:pPr>
              <a:lnSpc>
                <a:spcPct val="130000"/>
              </a:lnSpc>
              <a:buNone/>
            </a:pPr>
            <a:r>
              <a:rPr lang="en-IN" sz="1800" b="1" dirty="0">
                <a:latin typeface="Arial" panose="020B0604020202020204" pitchFamily="34" charset="0"/>
                <a:ea typeface="Calibri" panose="020F0502020204030204" charset="0"/>
                <a:cs typeface="Arial" panose="020B0604020202020204" pitchFamily="34" charset="0"/>
                <a:sym typeface="+mn-ea"/>
              </a:rPr>
              <a:t>Method Used: </a:t>
            </a:r>
            <a:r>
              <a:rPr lang="en-IN" sz="1800" dirty="0">
                <a:latin typeface="Arial" panose="020B0604020202020204" pitchFamily="34" charset="0"/>
                <a:ea typeface="Calibri" panose="020F0502020204030204" charset="0"/>
                <a:cs typeface="Arial" panose="020B0604020202020204" pitchFamily="34" charset="0"/>
                <a:sym typeface="+mn-ea"/>
              </a:rPr>
              <a:t>Grid Search</a:t>
            </a:r>
            <a:r>
              <a:rPr lang="en-US" altLang="en-IN" sz="1800" dirty="0">
                <a:latin typeface="Arial" panose="020B0604020202020204" pitchFamily="34" charset="0"/>
                <a:ea typeface="Calibri" panose="020F0502020204030204" charset="0"/>
                <a:cs typeface="Arial" panose="020B0604020202020204" pitchFamily="34" charset="0"/>
                <a:sym typeface="+mn-ea"/>
              </a:rPr>
              <a:t>CV</a:t>
            </a:r>
            <a:endParaRPr lang="en-IN" sz="1800" dirty="0">
              <a:latin typeface="Arial" panose="020B0604020202020204" pitchFamily="34" charset="0"/>
              <a:ea typeface="Calibri" panose="020F0502020204030204" charset="0"/>
              <a:cs typeface="Arial" panose="020B0604020202020204" pitchFamily="34" charset="0"/>
            </a:endParaRPr>
          </a:p>
          <a:p>
            <a:pPr>
              <a:lnSpc>
                <a:spcPct val="130000"/>
              </a:lnSpc>
            </a:pPr>
            <a:r>
              <a:rPr lang="en-IN" sz="1800" dirty="0">
                <a:latin typeface="Arial" panose="020B0604020202020204" pitchFamily="34" charset="0"/>
                <a:ea typeface="Calibri" panose="020F0502020204030204" charset="0"/>
                <a:cs typeface="Arial" panose="020B0604020202020204" pitchFamily="34" charset="0"/>
                <a:sym typeface="+mn-ea"/>
              </a:rPr>
              <a:t>Tested multiple combinations of:</a:t>
            </a:r>
            <a:endParaRPr lang="en-IN" sz="1800" dirty="0">
              <a:latin typeface="Arial" panose="020B0604020202020204" pitchFamily="34" charset="0"/>
              <a:ea typeface="Calibri" panose="020F0502020204030204" charset="0"/>
              <a:cs typeface="Arial" panose="020B0604020202020204" pitchFamily="34" charset="0"/>
            </a:endParaRPr>
          </a:p>
          <a:p>
            <a:pPr marL="990600" lvl="1" indent="-381000">
              <a:lnSpc>
                <a:spcPct val="130000"/>
              </a:lnSpc>
              <a:buFont typeface="Arial" panose="020B0604020202020204" pitchFamily="34" charset="0"/>
              <a:buChar char="•"/>
            </a:pPr>
            <a:r>
              <a:rPr lang="en-IN" sz="1800" dirty="0" err="1">
                <a:latin typeface="Arial" panose="020B0604020202020204" pitchFamily="34" charset="0"/>
                <a:ea typeface="Calibri" panose="020F0502020204030204" charset="0"/>
                <a:cs typeface="Arial" panose="020B0604020202020204" pitchFamily="34" charset="0"/>
                <a:sym typeface="+mn-ea"/>
              </a:rPr>
              <a:t>n_estimators</a:t>
            </a:r>
            <a:r>
              <a:rPr lang="en-IN" sz="1800" dirty="0">
                <a:latin typeface="Arial" panose="020B0604020202020204" pitchFamily="34" charset="0"/>
                <a:ea typeface="Calibri" panose="020F0502020204030204" charset="0"/>
                <a:cs typeface="Arial" panose="020B0604020202020204" pitchFamily="34" charset="0"/>
                <a:sym typeface="+mn-ea"/>
              </a:rPr>
              <a:t> → [100, 200</a:t>
            </a:r>
            <a:r>
              <a:rPr lang="en-US" altLang="en-IN" sz="1800" dirty="0">
                <a:latin typeface="Arial" panose="020B0604020202020204" pitchFamily="34" charset="0"/>
                <a:ea typeface="Calibri" panose="020F0502020204030204" charset="0"/>
                <a:cs typeface="Arial" panose="020B0604020202020204" pitchFamily="34" charset="0"/>
                <a:sym typeface="+mn-ea"/>
              </a:rPr>
              <a:t>,300</a:t>
            </a:r>
            <a:r>
              <a:rPr lang="en-IN" sz="1800" dirty="0">
                <a:latin typeface="Arial" panose="020B0604020202020204" pitchFamily="34" charset="0"/>
                <a:ea typeface="Calibri" panose="020F0502020204030204" charset="0"/>
                <a:cs typeface="Arial" panose="020B0604020202020204" pitchFamily="34" charset="0"/>
                <a:sym typeface="+mn-ea"/>
              </a:rPr>
              <a:t>]</a:t>
            </a:r>
            <a:endParaRPr lang="en-IN" sz="1800" dirty="0">
              <a:latin typeface="Arial" panose="020B0604020202020204" pitchFamily="34" charset="0"/>
              <a:ea typeface="Calibri" panose="020F0502020204030204" charset="0"/>
              <a:cs typeface="Arial" panose="020B0604020202020204" pitchFamily="34" charset="0"/>
            </a:endParaRPr>
          </a:p>
          <a:p>
            <a:pPr marL="990600" lvl="1" indent="-381000">
              <a:lnSpc>
                <a:spcPct val="130000"/>
              </a:lnSpc>
              <a:buFont typeface="Arial" panose="020B0604020202020204" pitchFamily="34" charset="0"/>
              <a:buChar char="•"/>
            </a:pPr>
            <a:r>
              <a:rPr lang="en-IN" sz="1800" dirty="0" err="1">
                <a:latin typeface="Arial" panose="020B0604020202020204" pitchFamily="34" charset="0"/>
                <a:ea typeface="Calibri" panose="020F0502020204030204" charset="0"/>
                <a:cs typeface="Arial" panose="020B0604020202020204" pitchFamily="34" charset="0"/>
                <a:sym typeface="+mn-ea"/>
              </a:rPr>
              <a:t>learning_rate</a:t>
            </a:r>
            <a:r>
              <a:rPr lang="en-IN" sz="1800" dirty="0">
                <a:latin typeface="Arial" panose="020B0604020202020204" pitchFamily="34" charset="0"/>
                <a:ea typeface="Calibri" panose="020F0502020204030204" charset="0"/>
                <a:cs typeface="Arial" panose="020B0604020202020204" pitchFamily="34" charset="0"/>
                <a:sym typeface="+mn-ea"/>
              </a:rPr>
              <a:t> → [0.01, 0.05, 0.1]</a:t>
            </a:r>
            <a:endParaRPr lang="en-IN" sz="1800" dirty="0">
              <a:latin typeface="Arial" panose="020B0604020202020204" pitchFamily="34" charset="0"/>
              <a:ea typeface="Calibri" panose="020F0502020204030204" charset="0"/>
              <a:cs typeface="Arial" panose="020B0604020202020204" pitchFamily="34" charset="0"/>
            </a:endParaRPr>
          </a:p>
          <a:p>
            <a:pPr marL="990600" lvl="1" indent="-381000">
              <a:lnSpc>
                <a:spcPct val="130000"/>
              </a:lnSpc>
              <a:buFont typeface="Arial" panose="020B0604020202020204" pitchFamily="34" charset="0"/>
              <a:buChar char="•"/>
            </a:pPr>
            <a:r>
              <a:rPr lang="en-IN" sz="1800" dirty="0" err="1">
                <a:latin typeface="Arial" panose="020B0604020202020204" pitchFamily="34" charset="0"/>
                <a:ea typeface="Calibri" panose="020F0502020204030204" charset="0"/>
                <a:cs typeface="Arial" panose="020B0604020202020204" pitchFamily="34" charset="0"/>
                <a:sym typeface="+mn-ea"/>
              </a:rPr>
              <a:t>max_depth</a:t>
            </a:r>
            <a:r>
              <a:rPr lang="en-IN" sz="1800" dirty="0">
                <a:latin typeface="Arial" panose="020B0604020202020204" pitchFamily="34" charset="0"/>
                <a:ea typeface="Calibri" panose="020F0502020204030204" charset="0"/>
                <a:cs typeface="Arial" panose="020B0604020202020204" pitchFamily="34" charset="0"/>
                <a:sym typeface="+mn-ea"/>
              </a:rPr>
              <a:t> → [4, 6,</a:t>
            </a:r>
            <a:r>
              <a:rPr lang="en-US" altLang="en-IN" sz="1800" dirty="0">
                <a:latin typeface="Arial" panose="020B0604020202020204" pitchFamily="34" charset="0"/>
                <a:ea typeface="Calibri" panose="020F0502020204030204" charset="0"/>
                <a:cs typeface="Arial" panose="020B0604020202020204" pitchFamily="34" charset="0"/>
                <a:sym typeface="+mn-ea"/>
              </a:rPr>
              <a:t>7,</a:t>
            </a:r>
            <a:r>
              <a:rPr lang="en-IN" sz="1800" dirty="0">
                <a:latin typeface="Arial" panose="020B0604020202020204" pitchFamily="34" charset="0"/>
                <a:ea typeface="Calibri" panose="020F0502020204030204" charset="0"/>
                <a:cs typeface="Arial" panose="020B0604020202020204" pitchFamily="34" charset="0"/>
                <a:sym typeface="+mn-ea"/>
              </a:rPr>
              <a:t> 8]</a:t>
            </a:r>
            <a:endParaRPr lang="en-IN" sz="1800" dirty="0">
              <a:latin typeface="Arial" panose="020B0604020202020204" pitchFamily="34" charset="0"/>
              <a:ea typeface="Calibri" panose="020F0502020204030204" charset="0"/>
              <a:cs typeface="Arial" panose="020B0604020202020204" pitchFamily="34" charset="0"/>
              <a:sym typeface="+mn-ea"/>
            </a:endParaRPr>
          </a:p>
          <a:p>
            <a:pPr marL="990600" lvl="1" indent="-381000">
              <a:lnSpc>
                <a:spcPct val="130000"/>
              </a:lnSpc>
              <a:buFont typeface="Arial" panose="020B0604020202020204" pitchFamily="34" charset="0"/>
              <a:buChar char="•"/>
            </a:pPr>
            <a:endParaRPr lang="en-IN" sz="2000" dirty="0">
              <a:latin typeface="Arial" panose="020B0604020202020204" pitchFamily="34" charset="0"/>
              <a:ea typeface="Calibri" panose="020F0502020204030204" charset="0"/>
              <a:cs typeface="Arial" panose="020B0604020202020204" pitchFamily="34" charset="0"/>
            </a:endParaRPr>
          </a:p>
          <a:p>
            <a:pPr marL="0" indent="0">
              <a:lnSpc>
                <a:spcPct val="130000"/>
              </a:lnSpc>
              <a:buNone/>
            </a:pPr>
            <a:endParaRPr lang="en-US" sz="2000" b="1">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pic>
        <p:nvPicPr>
          <p:cNvPr id="6" name="Picture 5"/>
          <p:cNvPicPr>
            <a:picLocks noChangeAspect="1"/>
          </p:cNvPicPr>
          <p:nvPr/>
        </p:nvPicPr>
        <p:blipFill>
          <a:blip r:embed="rId1"/>
          <a:stretch>
            <a:fillRect/>
          </a:stretch>
        </p:blipFill>
        <p:spPr>
          <a:xfrm>
            <a:off x="1127125" y="5466080"/>
            <a:ext cx="8571865" cy="7791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
        <p:nvSpPr>
          <p:cNvPr id="2" name="Content Placeholder 1"/>
          <p:cNvSpPr/>
          <p:nvPr>
            <p:ph idx="1"/>
          </p:nvPr>
        </p:nvSpPr>
        <p:spPr>
          <a:xfrm>
            <a:off x="891540" y="988695"/>
            <a:ext cx="10260965" cy="5243195"/>
          </a:xfrm>
        </p:spPr>
        <p:txBody>
          <a:bodyPr/>
          <a:p>
            <a:pPr marL="0" indent="0">
              <a:lnSpc>
                <a:spcPct val="110000"/>
              </a:lnSpc>
              <a:buNone/>
            </a:pPr>
            <a:r>
              <a:rPr lang="en-US" altLang="en-US" sz="1800"/>
              <a:t>Developed using</a:t>
            </a:r>
            <a:r>
              <a:rPr lang="en-US" altLang="en-US" sz="1800">
                <a:solidFill>
                  <a:schemeClr val="tx1"/>
                </a:solidFill>
              </a:rPr>
              <a:t> Streamlit.</a:t>
            </a:r>
            <a:endParaRPr lang="en-US" altLang="en-US" sz="1800">
              <a:solidFill>
                <a:schemeClr val="tx1"/>
              </a:solidFill>
            </a:endParaRPr>
          </a:p>
          <a:p>
            <a:pPr marL="0" indent="0">
              <a:lnSpc>
                <a:spcPct val="110000"/>
              </a:lnSpc>
              <a:buNone/>
            </a:pPr>
            <a:r>
              <a:rPr lang="en-US" altLang="en-US" sz="1800">
                <a:sym typeface="+mn-ea"/>
              </a:rPr>
              <a:t>Built a user-friendly interface for entering delivery details and generating delivery time predictions.Deployed the application on Hugging Face Spaces for free cloud hosting</a:t>
            </a:r>
            <a:endParaRPr lang="en-US" altLang="en-US" sz="1800">
              <a:sym typeface="+mn-ea"/>
            </a:endParaRPr>
          </a:p>
          <a:p>
            <a:pPr marL="0" indent="0">
              <a:lnSpc>
                <a:spcPct val="110000"/>
              </a:lnSpc>
              <a:buNone/>
            </a:pPr>
            <a:r>
              <a:rPr lang="en-US" altLang="en-US" sz="1800">
                <a:sym typeface="+mn-ea"/>
              </a:rPr>
              <a:t>and public access.</a:t>
            </a:r>
            <a:endParaRPr lang="en-US" altLang="en-US" sz="1800">
              <a:solidFill>
                <a:schemeClr val="accent1">
                  <a:lumMod val="75000"/>
                </a:schemeClr>
              </a:solidFill>
            </a:endParaRPr>
          </a:p>
          <a:p>
            <a:pPr marL="0" indent="0">
              <a:lnSpc>
                <a:spcPct val="110000"/>
              </a:lnSpc>
              <a:buNone/>
            </a:pPr>
            <a:r>
              <a:rPr lang="en-US" altLang="en-US" sz="2000">
                <a:solidFill>
                  <a:schemeClr val="accent5">
                    <a:lumMod val="50000"/>
                  </a:schemeClr>
                </a:solidFill>
              </a:rPr>
              <a:t>https://huggingface.co/spaces/baddampravallika/Swiggy_Delivery_Time_Prediction</a:t>
            </a:r>
            <a:endParaRPr lang="en-US" altLang="en-US" sz="2000">
              <a:solidFill>
                <a:schemeClr val="accent5">
                  <a:lumMod val="50000"/>
                </a:schemeClr>
              </a:solidFill>
            </a:endParaRPr>
          </a:p>
        </p:txBody>
      </p:sp>
      <p:sp>
        <p:nvSpPr>
          <p:cNvPr id="3" name="Text Box 2"/>
          <p:cNvSpPr txBox="1"/>
          <p:nvPr/>
        </p:nvSpPr>
        <p:spPr>
          <a:xfrm>
            <a:off x="996315" y="332740"/>
            <a:ext cx="10156825" cy="715010"/>
          </a:xfrm>
          <a:prstGeom prst="rect">
            <a:avLst/>
          </a:prstGeom>
        </p:spPr>
        <p:txBody>
          <a:bodyPr>
            <a:noAutofit/>
            <a:extLst>
              <a:ext uri="{4A0BC546-FE56-4ADE-93B0-CB8AF2F6F144}">
                <wpsdc:textFrameExt xmlns:wpsdc="http://www.wps.cn/officeDocument/2022/drawingmlCustomData" type="text"/>
              </a:ext>
            </a:extLst>
          </a:bodyPr>
          <a:p>
            <a:pPr algn="ctr"/>
            <a:r>
              <a:rPr lang="en-US" sz="4400" b="1">
                <a:solidFill>
                  <a:srgbClr val="FF0000"/>
                </a:solidFill>
                <a:latin typeface="Arial" panose="020B0604020202020204" pitchFamily="34" charset="0"/>
                <a:ea typeface="Microsoft YaHei" panose="020B0503020204020204" charset="-122"/>
              </a:rPr>
              <a:t>Model Deployment</a:t>
            </a:r>
            <a:endParaRPr lang="en-US" sz="4400" b="1">
              <a:solidFill>
                <a:srgbClr val="FF0000"/>
              </a:solidFill>
              <a:latin typeface="Arial" panose="020B0604020202020204" pitchFamily="34" charset="0"/>
              <a:ea typeface="Microsoft YaHei" panose="020B0503020204020204" charset="-122"/>
            </a:endParaRPr>
          </a:p>
        </p:txBody>
      </p:sp>
      <p:pic>
        <p:nvPicPr>
          <p:cNvPr id="6" name="Picture 5"/>
          <p:cNvPicPr>
            <a:picLocks noChangeAspect="1"/>
          </p:cNvPicPr>
          <p:nvPr/>
        </p:nvPicPr>
        <p:blipFill>
          <a:blip r:embed="rId1"/>
          <a:stretch>
            <a:fillRect/>
          </a:stretch>
        </p:blipFill>
        <p:spPr>
          <a:xfrm>
            <a:off x="1029970" y="2856230"/>
            <a:ext cx="9921875" cy="34499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rgbClr val="FF0000"/>
                </a:solidFill>
              </a:rPr>
              <a:t>Challenges</a:t>
            </a:r>
            <a:endParaRPr lang="en-US" b="1">
              <a:solidFill>
                <a:srgbClr val="FF0000"/>
              </a:solidFill>
            </a:endParaRPr>
          </a:p>
        </p:txBody>
      </p:sp>
      <p:sp>
        <p:nvSpPr>
          <p:cNvPr id="3" name="Content Placeholder 2"/>
          <p:cNvSpPr>
            <a:spLocks noGrp="1"/>
          </p:cNvSpPr>
          <p:nvPr>
            <p:ph idx="1"/>
          </p:nvPr>
        </p:nvSpPr>
        <p:spPr>
          <a:xfrm>
            <a:off x="986155" y="1600200"/>
            <a:ext cx="10115550" cy="4526280"/>
          </a:xfrm>
        </p:spPr>
        <p:txBody>
          <a:bodyPr/>
          <a:p>
            <a:pPr algn="just">
              <a:lnSpc>
                <a:spcPct val="120000"/>
              </a:lnSpc>
            </a:pPr>
            <a:r>
              <a:rPr lang="en-US" altLang="en-US" sz="2000" b="1"/>
              <a:t>The Problem: </a:t>
            </a:r>
            <a:r>
              <a:rPr lang="en-US" altLang="en-US" sz="2000"/>
              <a:t>Two algorithms produced similar r2 scores, making it unclear which model would perform best in real-world conditions i.e (Random Forest &amp; XGBoost).</a:t>
            </a:r>
            <a:endParaRPr lang="en-US" altLang="en-US" sz="2000"/>
          </a:p>
          <a:p>
            <a:pPr algn="just">
              <a:lnSpc>
                <a:spcPct val="120000"/>
              </a:lnSpc>
            </a:pPr>
            <a:r>
              <a:rPr lang="en-US" altLang="en-US" sz="2000" b="1"/>
              <a:t>The Solution:</a:t>
            </a:r>
            <a:r>
              <a:rPr lang="en-US" altLang="en-US" sz="2000"/>
              <a:t> I compared the r2 scores of both training and validation sets to identify and resolve overfitting (where the model memorizes data) and underfitting (where it learns too little), ensuring the final model is both accurate and robust.</a:t>
            </a:r>
            <a:endParaRPr lang="en-US" alt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rgbClr val="FF0000"/>
                </a:solidFill>
                <a:sym typeface="+mn-ea"/>
              </a:rPr>
              <a:t>Key Insights</a:t>
            </a:r>
            <a:endParaRPr lang="en-US" altLang="en-US" b="1">
              <a:solidFill>
                <a:srgbClr val="FF0000"/>
              </a:solidFill>
              <a:sym typeface="+mn-ea"/>
            </a:endParaRPr>
          </a:p>
        </p:txBody>
      </p:sp>
      <p:sp>
        <p:nvSpPr>
          <p:cNvPr id="3" name="Content Placeholder 2"/>
          <p:cNvSpPr>
            <a:spLocks noGrp="1"/>
          </p:cNvSpPr>
          <p:nvPr>
            <p:ph idx="1"/>
          </p:nvPr>
        </p:nvSpPr>
        <p:spPr>
          <a:xfrm>
            <a:off x="903605" y="1417320"/>
            <a:ext cx="10077450" cy="4709160"/>
          </a:xfrm>
        </p:spPr>
        <p:txBody>
          <a:bodyPr/>
          <a:p>
            <a:pPr algn="just">
              <a:lnSpc>
                <a:spcPct val="120000"/>
              </a:lnSpc>
            </a:pPr>
            <a:r>
              <a:rPr lang="en-US" altLang="en-US" sz="2000"/>
              <a:t>Distance is one of the most influential factors affecting delivery time.</a:t>
            </a:r>
            <a:endParaRPr lang="en-US" altLang="en-US" sz="2000"/>
          </a:p>
          <a:p>
            <a:pPr algn="just">
              <a:lnSpc>
                <a:spcPct val="120000"/>
              </a:lnSpc>
            </a:pPr>
            <a:r>
              <a:rPr lang="en-US" altLang="en-US" sz="2000"/>
              <a:t>Traffic conditions significantly increase delivery duration.</a:t>
            </a:r>
            <a:endParaRPr lang="en-US" altLang="en-US" sz="2000"/>
          </a:p>
          <a:p>
            <a:pPr algn="just">
              <a:lnSpc>
                <a:spcPct val="120000"/>
              </a:lnSpc>
            </a:pPr>
            <a:r>
              <a:rPr lang="en-US" altLang="en-US" sz="2000"/>
              <a:t>Orders during peak hours and weekends tend to have longer delivery times.</a:t>
            </a:r>
            <a:endParaRPr lang="en-US" altLang="en-US" sz="2000"/>
          </a:p>
          <a:p>
            <a:pPr algn="just">
              <a:lnSpc>
                <a:spcPct val="120000"/>
              </a:lnSpc>
            </a:pPr>
            <a:r>
              <a:rPr lang="en-US" altLang="en-US" sz="2000"/>
              <a:t>Weather conditions impact delivery efficiency and ETA accuracy.</a:t>
            </a:r>
            <a:endParaRPr lang="en-US" altLang="en-US" sz="2000"/>
          </a:p>
          <a:p>
            <a:pPr algn="just">
              <a:lnSpc>
                <a:spcPct val="120000"/>
              </a:lnSpc>
            </a:pPr>
            <a:r>
              <a:rPr lang="en-US" altLang="en-US" sz="2000"/>
              <a:t>XGBoost outperformed traditional models such as Linear Regression, KNN, Decision Tree, and Random Forest.</a:t>
            </a:r>
            <a:endParaRPr lang="en-US" alt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rgbClr val="FF0000"/>
                </a:solidFill>
                <a:sym typeface="+mn-ea"/>
              </a:rPr>
              <a:t>Recommendations</a:t>
            </a:r>
            <a:endParaRPr lang="en-US" altLang="en-US" b="1">
              <a:solidFill>
                <a:srgbClr val="FF0000"/>
              </a:solidFill>
              <a:sym typeface="+mn-ea"/>
            </a:endParaRPr>
          </a:p>
        </p:txBody>
      </p:sp>
      <p:sp>
        <p:nvSpPr>
          <p:cNvPr id="3" name="Content Placeholder 2"/>
          <p:cNvSpPr>
            <a:spLocks noGrp="1"/>
          </p:cNvSpPr>
          <p:nvPr>
            <p:ph idx="1"/>
          </p:nvPr>
        </p:nvSpPr>
        <p:spPr>
          <a:xfrm>
            <a:off x="985520" y="1370965"/>
            <a:ext cx="10596880" cy="4755515"/>
          </a:xfrm>
        </p:spPr>
        <p:txBody>
          <a:bodyPr/>
          <a:p>
            <a:pPr>
              <a:lnSpc>
                <a:spcPct val="130000"/>
              </a:lnSpc>
            </a:pPr>
            <a:r>
              <a:rPr lang="en-US" altLang="en-US" sz="2000"/>
              <a:t>Improve ETA accuracy using traffic and distance data.</a:t>
            </a:r>
            <a:endParaRPr lang="en-US" altLang="en-US" sz="2000"/>
          </a:p>
          <a:p>
            <a:pPr>
              <a:lnSpc>
                <a:spcPct val="130000"/>
              </a:lnSpc>
            </a:pPr>
            <a:r>
              <a:rPr lang="en-US" altLang="en-US" sz="2000"/>
              <a:t>Optimize rider allocation during peak hours.</a:t>
            </a:r>
            <a:endParaRPr lang="en-US" altLang="en-US" sz="2000"/>
          </a:p>
          <a:p>
            <a:pPr>
              <a:lnSpc>
                <a:spcPct val="130000"/>
              </a:lnSpc>
            </a:pPr>
            <a:r>
              <a:rPr lang="en-US" altLang="en-US" sz="2000"/>
              <a:t>Incorporate real-time traffic and weather updates.</a:t>
            </a:r>
            <a:endParaRPr lang="en-US" altLang="en-US" sz="2000"/>
          </a:p>
          <a:p>
            <a:pPr>
              <a:lnSpc>
                <a:spcPct val="130000"/>
              </a:lnSpc>
            </a:pPr>
            <a:r>
              <a:rPr lang="en-US" altLang="en-US" sz="2000"/>
              <a:t>Continuously retrain the model with new delivery data.</a:t>
            </a:r>
            <a:endParaRPr lang="en-US" altLang="en-US" sz="2000"/>
          </a:p>
          <a:p>
            <a:pPr>
              <a:lnSpc>
                <a:spcPct val="130000"/>
              </a:lnSpc>
            </a:pPr>
            <a:r>
              <a:rPr lang="en-US" altLang="en-US" sz="2000"/>
              <a:t>Use predictive ETAs to enhance customer satisfaction.</a:t>
            </a:r>
            <a:endParaRPr lang="en-US" alt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0925" y="274955"/>
            <a:ext cx="9922510" cy="1143000"/>
          </a:xfrm>
        </p:spPr>
        <p:txBody>
          <a:bodyPr/>
          <a:p>
            <a:r>
              <a:rPr lang="en-US" sz="4000" b="1">
                <a:solidFill>
                  <a:srgbClr val="FF0000"/>
                </a:solidFill>
              </a:rPr>
              <a:t>Conclusion</a:t>
            </a:r>
            <a:endParaRPr lang="en-US" sz="4000" b="1">
              <a:solidFill>
                <a:srgbClr val="FF0000"/>
              </a:solidFill>
            </a:endParaRPr>
          </a:p>
        </p:txBody>
      </p:sp>
      <p:sp>
        <p:nvSpPr>
          <p:cNvPr id="3" name="Content Placeholder 2"/>
          <p:cNvSpPr>
            <a:spLocks noGrp="1"/>
          </p:cNvSpPr>
          <p:nvPr>
            <p:ph idx="1"/>
          </p:nvPr>
        </p:nvSpPr>
        <p:spPr>
          <a:xfrm>
            <a:off x="1014730" y="1417320"/>
            <a:ext cx="10077450" cy="4709160"/>
          </a:xfrm>
        </p:spPr>
        <p:txBody>
          <a:bodyPr/>
          <a:p>
            <a:pPr algn="just">
              <a:lnSpc>
                <a:spcPct val="150000"/>
              </a:lnSpc>
            </a:pPr>
            <a:r>
              <a:rPr lang="en-US" altLang="en-US" sz="2300"/>
              <a:t>Developed a machine learning model to predict Swiggy delivery times using rider, order, traffic, weather, and distance-related features.</a:t>
            </a:r>
            <a:endParaRPr lang="en-US" altLang="en-US" sz="2300"/>
          </a:p>
          <a:p>
            <a:pPr algn="just">
              <a:lnSpc>
                <a:spcPct val="150000"/>
              </a:lnSpc>
            </a:pPr>
            <a:r>
              <a:rPr lang="en-US" altLang="en-US" sz="2300"/>
              <a:t>XGBoost achieved the best performance with an R² score of 81.28%, demonstrating strong predictive capability.</a:t>
            </a:r>
            <a:endParaRPr lang="en-US" altLang="en-US" sz="2300"/>
          </a:p>
          <a:p>
            <a:pPr algn="just">
              <a:lnSpc>
                <a:spcPct val="150000"/>
              </a:lnSpc>
            </a:pPr>
            <a:r>
              <a:rPr lang="en-US" altLang="en-US" sz="2300"/>
              <a:t>deployed Streamlit application enables real-time delivery time estimation for end users.</a:t>
            </a:r>
            <a:endParaRPr lang="en-US" altLang="en-US" sz="2300"/>
          </a:p>
          <a:p>
            <a:pPr marL="0" indent="0" algn="just">
              <a:lnSpc>
                <a:spcPct val="150000"/>
              </a:lnSpc>
              <a:buNone/>
            </a:pPr>
            <a:endParaRPr lang="en-US" altLang="en-US" sz="23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p:sp>
        <p:nvSpPr>
          <p:cNvPr id="1048642" name="Title 1"/>
          <p:cNvSpPr/>
          <p:nvPr>
            <p:ph type="title"/>
          </p:nvPr>
        </p:nvSpPr>
        <p:spPr>
          <a:xfrm>
            <a:off x="1212850" y="365125"/>
            <a:ext cx="10140950" cy="5584190"/>
          </a:xfrm>
        </p:spPr>
        <p:txBody>
          <a:bodyPr/>
          <a:p>
            <a:pPr algn="ctr"/>
            <a:endParaRPr lang="en-US"/>
          </a:p>
        </p:txBody>
      </p:sp>
      <p:sp>
        <p:nvSpPr>
          <p:cNvPr id="1048643" name="Footer Placeholder 3"/>
          <p:cNvSpPr>
            <a:spLocks noGrp="1"/>
          </p:cNvSpPr>
          <p:nvPr>
            <p:ph type="ftr" sz="quarter" idx="11"/>
          </p:nvPr>
        </p:nvSpPr>
        <p:spPr/>
        <p:txBody>
          <a:bodyPr/>
          <a:p>
            <a:endParaRPr lang="zh-CN" altLang="en-US" b="1"/>
          </a:p>
        </p:txBody>
      </p:sp>
      <p:sp>
        <p:nvSpPr>
          <p:cNvPr id="1048644"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pic>
        <p:nvPicPr>
          <p:cNvPr id="2" name="Picture 1" descr="Q&amp;A"/>
          <p:cNvPicPr>
            <a:picLocks noChangeAspect="1"/>
          </p:cNvPicPr>
          <p:nvPr/>
        </p:nvPicPr>
        <p:blipFill>
          <a:blip r:embed="rId1"/>
          <a:stretch>
            <a:fillRect/>
          </a:stretch>
        </p:blipFill>
        <p:spPr>
          <a:xfrm>
            <a:off x="2276475" y="1200150"/>
            <a:ext cx="8176260" cy="43351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3" name="Shape 115"/>
        <p:cNvGrpSpPr/>
        <p:nvPr/>
      </p:nvGrpSpPr>
      <p:grpSpPr>
        <a:xfrm>
          <a:off x="0" y="0"/>
          <a:ext cx="0" cy="0"/>
          <a:chOff x="0" y="0"/>
          <a:chExt cx="0" cy="0"/>
        </a:xfrm>
      </p:grpSpPr>
      <p:pic>
        <p:nvPicPr>
          <p:cNvPr id="2097170"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048645"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a:t>
            </a:r>
            <a:endParaRPr lang="en-IN" sz="4400" b="0" i="0" u="none" strike="noStrike" cap="none">
              <a:solidFill>
                <a:srgbClr val="C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 </a:t>
            </a:r>
            <a:r>
              <a:rPr lang="en-US" altLang="en-IN" sz="4400" b="0" i="0" u="none" strike="noStrike" cap="none">
                <a:solidFill>
                  <a:srgbClr val="C00000"/>
                </a:solidFill>
                <a:latin typeface="Libre Baskerville"/>
                <a:ea typeface="Libre Baskerville"/>
                <a:cs typeface="Libre Baskerville"/>
                <a:sym typeface="Libre Baskerville"/>
              </a:rPr>
              <a:t>          </a:t>
            </a:r>
            <a:r>
              <a:rPr lang="en-IN" sz="4400" b="0" i="0" u="none" strike="noStrike" cap="none">
                <a:solidFill>
                  <a:srgbClr val="C00000"/>
                </a:solidFill>
                <a:latin typeface="Libre Baskerville"/>
                <a:ea typeface="Libre Baskerville"/>
                <a:cs typeface="Libre Baskerville"/>
                <a:sym typeface="Libre Baskerville"/>
              </a:rPr>
              <a:t>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46" name="Slide Number Placeholder 2"/>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tags/tag1.xml><?xml version="1.0" encoding="utf-8"?>
<p:tagLst xmlns:p="http://schemas.openxmlformats.org/presentationml/2006/main">
  <p:tag name="TABLE_ENDDRAG_ORIGIN_RECT" val="642*313"/>
  <p:tag name="TABLE_ENDDRAG_RECT" val="88*94*642*313"/>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7545</Words>
  <Application>WPS Presentation</Application>
  <PresentationFormat/>
  <Paragraphs>315</Paragraphs>
  <Slides>20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20</vt:i4>
      </vt:variant>
    </vt:vector>
  </HeadingPairs>
  <TitlesOfParts>
    <vt:vector size="33" baseType="lpstr">
      <vt:lpstr>Arial</vt:lpstr>
      <vt:lpstr>SimSun</vt:lpstr>
      <vt:lpstr>Wingdings</vt:lpstr>
      <vt:lpstr>Arial</vt:lpstr>
      <vt:lpstr>Calibri</vt:lpstr>
      <vt:lpstr>Calibri</vt:lpstr>
      <vt:lpstr>Lato Black</vt:lpstr>
      <vt:lpstr>Wingdings</vt:lpstr>
      <vt:lpstr>Microsoft YaHei</vt:lpstr>
      <vt:lpstr>Arial Unicode MS</vt:lpstr>
      <vt:lpstr>Courier New</vt:lpstr>
      <vt:lpstr>Libre Baskerville</vt:lpstr>
      <vt:lpstr>Default Design</vt:lpstr>
      <vt:lpstr>PowerPoint 演示文稿</vt:lpstr>
      <vt:lpstr>PowerPoint 演示文稿</vt:lpstr>
      <vt:lpstr>  Agenda</vt:lpstr>
      <vt:lpstr>Introduction</vt:lpstr>
      <vt:lpstr>CRISP-ML(Q)</vt:lpstr>
      <vt:lpstr>Business Problem</vt:lpstr>
      <vt:lpstr>Objective</vt:lpstr>
      <vt:lpstr>Dataset Overview</vt:lpstr>
      <vt:lpstr>Data Pre-processing</vt:lpstr>
      <vt:lpstr>PowerPoint 演示文稿</vt:lpstr>
      <vt:lpstr>PowerPoint 演示文稿</vt:lpstr>
      <vt:lpstr>Model Evaluation and Model Selection</vt:lpstr>
      <vt:lpstr>PowerPoint 演示文稿</vt:lpstr>
      <vt:lpstr>PowerPoint 演示文稿</vt:lpstr>
      <vt:lpstr>Challenges</vt:lpstr>
      <vt:lpstr>Key Insights</vt:lpstr>
      <vt:lpstr>Recommendations</vt:lpstr>
      <vt:lpstr>Conclusion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Baddam Pravallika</cp:lastModifiedBy>
  <cp:revision>52</cp:revision>
  <dcterms:created xsi:type="dcterms:W3CDTF">2026-02-28T11:33:00Z</dcterms:created>
  <dcterms:modified xsi:type="dcterms:W3CDTF">2026-06-05T10:04:33Z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4001173699514BFA94351D59C1712E5A_13</vt:lpwstr>
  </property>
  <property fmtid="{D5CDD505-2E9C-101B-9397-08002B2CF9AE}" pid="3" name="KSOProductBuildVer">
    <vt:lpwstr>1033-12.1.0.26372</vt:lpwstr>
  </property>
</Properties>
</file>